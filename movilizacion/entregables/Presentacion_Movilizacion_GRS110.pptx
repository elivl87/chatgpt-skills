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7fc33bc1-a053-5608-fdc1-37e14e11a683}">
          <p14:sldIdLst>
            <p14:sldId id="256"/>
          </p14:sldIdLst>
        </p14:section>
        <p14:section name="Estructura de costo" id="{d91145b5-66e8-9c0a-5686-bda882747d8f}">
          <p14:sldIdLst>
            <p14:sldId id="257"/>
          </p14:sldIdLst>
        </p14:section>
        <p14:section name="Frontera" id="{95188d28-818f-8dce-25c8-77d4503b37b3}">
          <p14:sldIdLst>
            <p14:sldId id="258"/>
          </p14:sldIdLst>
        </p14:section>
        <p14:section name="Pendientes" id="{fe3d7e6d-4831-a802-e42f-fb7c76d20bae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-83725.53918918828</c:v>
                </c:pt>
                <c:pt idx="1">
                  <c:v>32570.32216216298</c:v>
                </c:pt>
                <c:pt idx="2">
                  <c:v>151086.61027027108</c:v>
                </c:pt>
                <c:pt idx="3">
                  <c:v>298418.6017567576</c:v>
                </c:pt>
                <c:pt idx="4">
                  <c:v>524278.8840540545</c:v>
                </c:pt>
                <c:pt idx="5">
                  <c:v>544289.827702703</c:v>
                </c:pt>
                <c:pt idx="6">
                  <c:v>681834.4614864872</c:v>
                </c:pt>
                <c:pt idx="7">
                  <c:v>682640.8786486494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56818.85135135101</c:v>
                </c:pt>
                <c:pt idx="1">
                  <c:v>283136.37432432454</c:v>
                </c:pt>
                <c:pt idx="2">
                  <c:v>509453.89729729807</c:v>
                </c:pt>
                <c:pt idx="3">
                  <c:v>423960.41216216283</c:v>
                </c:pt>
                <c:pt idx="4">
                  <c:v>587203.9000000013</c:v>
                </c:pt>
                <c:pt idx="5">
                  <c:v>524129.86486486625</c:v>
                </c:pt>
                <c:pt idx="6">
                  <c:v>646718.7675675689</c:v>
                </c:pt>
                <c:pt idx="7">
                  <c:v>620115.0027027032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-688673.8581081079</c:v>
                </c:pt>
                <c:pt idx="1">
                  <c:v>-572377.9967567567</c:v>
                </c:pt>
                <c:pt idx="2">
                  <c:v>-453861.7086486486</c:v>
                </c:pt>
                <c:pt idx="3">
                  <c:v>-385190.7454054053</c:v>
                </c:pt>
                <c:pt idx="4">
                  <c:v>-208146.47999999998</c:v>
                </c:pt>
                <c:pt idx="5">
                  <c:v>-236951.55324324314</c:v>
                </c:pt>
                <c:pt idx="6">
                  <c:v>-167193.94189189188</c:v>
                </c:pt>
                <c:pt idx="7">
                  <c:v>-236951.55324324314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cada pozo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por pozo con 5–6 movs/mes: Petro Star normal 4–15 k USD, Ecotransur 15–17 k USD (pozo de 500–600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550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Falta confirmar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El Work Order tiene tope: lo comparamos contra su tarifa máxima. El tercerizado no tiene tope; el riesgo de cada hora extra queda en SierraCol.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2026-10-12T16:51:56Z</dcterms:created>
  <dcterms:modified xsi:type="dcterms:W3CDTF">2026-10-12T16:51:56Z</dcterms:modified>
</cp:coreProperties>
</file>