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c1eafc6c-2fbe-c2c4-0f8e-7e4542a9f3ba}">
          <p14:sldIdLst>
            <p14:sldId id="256"/>
          </p14:sldIdLst>
        </p14:section>
        <p14:section name="Estructura de costo" id="{57cd9278-a18e-e4e5-3109-afe9e591052c}">
          <p14:sldIdLst>
            <p14:sldId id="257"/>
          </p14:sldIdLst>
        </p14:section>
        <p14:section name="Frontera" id="{d9ba0ae3-c6c2-b0ce-a96a-cd6a38fa17c7}">
          <p14:sldIdLst>
            <p14:sldId id="258"/>
          </p14:sldIdLst>
        </p14:section>
        <p14:section name="Pendientes" id="{1ff4f43f-eb30-3710-c101-2463e05d3c1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-35057.83378378302</c:v>
                </c:pt>
                <c:pt idx="1">
                  <c:v>81238.02756756824</c:v>
                </c:pt>
                <c:pt idx="2">
                  <c:v>199754.31567567633</c:v>
                </c:pt>
                <c:pt idx="3">
                  <c:v>347086.30716216285</c:v>
                </c:pt>
                <c:pt idx="4">
                  <c:v>572946.5894594598</c:v>
                </c:pt>
                <c:pt idx="5">
                  <c:v>592957.5331081082</c:v>
                </c:pt>
                <c:pt idx="6">
                  <c:v>730502.1668918924</c:v>
                </c:pt>
                <c:pt idx="7">
                  <c:v>731308.5840540547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105486.55675675627</c:v>
                </c:pt>
                <c:pt idx="1">
                  <c:v>331804.0797297298</c:v>
                </c:pt>
                <c:pt idx="2">
                  <c:v>558121.6027027033</c:v>
                </c:pt>
                <c:pt idx="3">
                  <c:v>472628.1175675681</c:v>
                </c:pt>
                <c:pt idx="4">
                  <c:v>635871.6054054066</c:v>
                </c:pt>
                <c:pt idx="5">
                  <c:v>572797.5702702715</c:v>
                </c:pt>
                <c:pt idx="6">
                  <c:v>695386.4729729742</c:v>
                </c:pt>
                <c:pt idx="7">
                  <c:v>668782.7081081085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-640006.1527027027</c:v>
                </c:pt>
                <c:pt idx="1">
                  <c:v>-523710.2913513514</c:v>
                </c:pt>
                <c:pt idx="2">
                  <c:v>-405194.0032432433</c:v>
                </c:pt>
                <c:pt idx="3">
                  <c:v>-336523.04000000004</c:v>
                </c:pt>
                <c:pt idx="4">
                  <c:v>-159478.77459459472</c:v>
                </c:pt>
                <c:pt idx="5">
                  <c:v>-188283.84783783788</c:v>
                </c:pt>
                <c:pt idx="6">
                  <c:v>-118526.23648648662</c:v>
                </c:pt>
                <c:pt idx="7">
                  <c:v>-188283.84783783788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cada pozo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por pozo con 5–6 movs/mes: Petro Star normal 6–16 k USD, Ecotransur 16–18 k USD (pozo de 500–600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6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frecuencia esperada 5–6 movs/mes, TRM 3.700. Con 4 movs/mes Petro Star ya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+0,57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+0,56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+0,64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550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Falta confirmar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Tabla del Work Order por horas: hoy se compara contra la banda más lenta; si el contratista mueve rápido, el WO cuesta más (+5 % al WO ≈ +0,16 M a favor del tercerizado).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2026-10-12T16:24:03Z</dcterms:created>
  <dcterms:modified xsi:type="dcterms:W3CDTF">2026-10-12T16:24:03Z</dcterms:modified>
</cp:coreProperties>
</file>