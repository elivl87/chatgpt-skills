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fecdad8c-344c-9e3c-d708-fa13f5ab07d9}">
          <p14:sldIdLst>
            <p14:sldId id="256"/>
          </p14:sldIdLst>
        </p14:section>
        <p14:section name="Estructura de costo" id="{5cfc5fcf-2dc1-61e2-44fb-87401ed19fd3}">
          <p14:sldIdLst>
            <p14:sldId id="257"/>
          </p14:sldIdLst>
        </p14:section>
        <p14:section name="Frontera" id="{7b57788f-1c0a-2971-9504-3ed5e73e095b}">
          <p14:sldIdLst>
            <p14:sldId id="258"/>
          </p14:sldIdLst>
        </p14:section>
        <p14:section name="Pendientes" id="{56539297-460e-2279-9ab0-6bc14d91ff64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Order, según movilizaciones por mes (USD)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-1264695</c:v>
                </c:pt>
                <c:pt idx="1">
                  <c:v>-376051</c:v>
                </c:pt>
                <c:pt idx="2">
                  <c:v>-35058</c:v>
                </c:pt>
                <c:pt idx="3">
                  <c:v>199754</c:v>
                </c:pt>
                <c:pt idx="4">
                  <c:v>572947</c:v>
                </c:pt>
                <c:pt idx="5">
                  <c:v>730502</c:v>
                </c:pt>
                <c:pt idx="6">
                  <c:v>731309</c:v>
                </c:pt>
                <c:pt idx="7">
                  <c:v>868853</c:v>
                </c:pt>
                <c:pt idx="8">
                  <c:v>827901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-1931371</c:v>
                </c:pt>
                <c:pt idx="1">
                  <c:v>-573466</c:v>
                </c:pt>
                <c:pt idx="2">
                  <c:v>105487</c:v>
                </c:pt>
                <c:pt idx="3">
                  <c:v>558122</c:v>
                </c:pt>
                <c:pt idx="4">
                  <c:v>635872</c:v>
                </c:pt>
                <c:pt idx="5">
                  <c:v>695386</c:v>
                </c:pt>
                <c:pt idx="6">
                  <c:v>668783</c:v>
                </c:pt>
                <c:pt idx="7">
                  <c:v>791372</c:v>
                </c:pt>
                <c:pt idx="8">
                  <c:v>791372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-1869644</c:v>
                </c:pt>
                <c:pt idx="1">
                  <c:v>-980999</c:v>
                </c:pt>
                <c:pt idx="2">
                  <c:v>-640006</c:v>
                </c:pt>
                <c:pt idx="3">
                  <c:v>-405194</c:v>
                </c:pt>
                <c:pt idx="4">
                  <c:v>-159479</c:v>
                </c:pt>
                <c:pt idx="5">
                  <c:v>-118526</c:v>
                </c:pt>
                <c:pt idx="6">
                  <c:v>-188284</c:v>
                </c:pt>
                <c:pt idx="7">
                  <c:v>-118526</c:v>
                </c:pt>
                <c:pt idx="8">
                  <c:v>-159479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(constante)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frecuencia constante; con 1 movilización por mes las pérdidas son de −4,2 a −5,8 M (fuera de escala). Tabla: hojas Real 2024 / Real 2025 del simulador, horas del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completo con valor de trabajo, alternativa y monto en juego por perfil de frecuencia: hoja Pendientes del simulador. Auditoría de la evaluación previa: archivo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solo conviene si la frecuencia se sostiene todos los meses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Mantener el Work Order (suma global por movilización, sin horas de taladro) o pasar a contratar directamente al transportador, pagando además el taladro por hora y un Truck Manager.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Lump Sum y Ecotransur.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434840"/>
          <a:ext cx="56692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movilizaciones todos los meses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tarifa normal deja de perder frente al Work Order (campaña 15 + 20 pozos en 0,1–5 km)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4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movilizaciones todos los meses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Ecotransur deja de perder frente al Work Order (misma campaña)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 ninguna frecuencia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descuento: solo cruza con pozos en la misma localización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8338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Evidencia de frecuencia (logs): 2024 tuvo 6 o más movilizaciones en 9 de 11 meses; 2025, en 4 de 9 meses, con meses de 1, 3 y 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La frontera está entre 4 y 5 movilizaciones por mes, sostenidas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Repetición de las campañas reales con cada modelo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vs WO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+0,90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−1,07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−1,19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2024: 70 movilizaciones, 6,4 por mes activo. 2025: 45, 5,0 por mes activo.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En 2025 los meses de 1, 3 y 4 movilizaciones se comieron casi todo lo que ganaron los meses de 6 y 7.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Escenario prudente (frecuencia y mezcla de 2025, horas cotizadas por Petro Star): Petro Star −0,02 M y Ecotransur −0,01 M. Es el punto de equilibrio.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Faltan siete datos y casi todos restan ventaja al tercerizado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137160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falta confirmar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de trabajo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juego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Quién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 real de los 20 pozos fuera de la locación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0,1–5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−0,18 M a −0,43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SierraCol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de taladro por movilización (Excel vs Petro Star)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12/18/24/28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SierraCol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¿Petro Star normal cobra aparte sus equipos adicionales?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−0,16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Cobro en un mes de campaña parada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cobra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−0,16 M a −0,23 M c/mes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Demora no atribuible al transportador (cláusula 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demora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−2.813 por hora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NPT de perforación (baja la frecuencia)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−0,24 M con 20 %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SierraCol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Sum: valores del Excel vs Cot. 1255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+0,44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6"/>
          <p:cNvSpPr/>
          <p:nvPr/>
        </p:nvSpPr>
        <p:spPr>
          <a:xfrm>
            <a:off x="8229600" y="12801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46304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Lectura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Sesgo sistemático: casi todos los supuestos de la evaluación previa y de este caso base empujan hacia el tercerizado. Con la frecuencia y la mezcla de 2025 y las horas que cotizó Petro Star, el ahorro desaparece: Petro Star −0,02 M y Ecotransur −0,01 M. Antes de cambiar el contrato: confirmar la frecuencia mensual esperada, el rango real de los pozos y las horas que se pagarán al taladro.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2026-10-12T15:33:55Z</dcterms:created>
  <dcterms:modified xsi:type="dcterms:W3CDTF">2026-10-12T15:33:55Z</dcterms:modified>
</cp:coreProperties>
</file>