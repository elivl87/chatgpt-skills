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6717f10d-acf0-713c-dda0-4ae4678a0250}">
          <p14:sldIdLst>
            <p14:sldId id="256"/>
          </p14:sldIdLst>
        </p14:section>
        <p14:section name="Estructura de costo" id="{b361c65b-1061-c340-3cdc-4eff4a4ec4e4}">
          <p14:sldIdLst>
            <p14:sldId id="257"/>
          </p14:sldIdLst>
        </p14:section>
        <p14:section name="Frontera" id="{d9a10660-02df-8645-bfcd-33f2e3b23706}">
          <p14:sldIdLst>
            <p14:sldId id="258"/>
          </p14:sldIdLst>
        </p14:section>
        <p14:section name="Pendientes" id="{7d73b183-f5a4-2034-e3af-b9bd831f7387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-83725.53918918828</c:v>
                </c:pt>
                <c:pt idx="1">
                  <c:v>32570.32216216298</c:v>
                </c:pt>
                <c:pt idx="2">
                  <c:v>151086.61027027108</c:v>
                </c:pt>
                <c:pt idx="3">
                  <c:v>298418.6017567576</c:v>
                </c:pt>
                <c:pt idx="4">
                  <c:v>524278.8840540545</c:v>
                </c:pt>
                <c:pt idx="5">
                  <c:v>544289.827702703</c:v>
                </c:pt>
                <c:pt idx="6">
                  <c:v>681834.4614864872</c:v>
                </c:pt>
                <c:pt idx="7">
                  <c:v>682640.8786486494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56818.85135135101</c:v>
                </c:pt>
                <c:pt idx="1">
                  <c:v>283136.37432432454</c:v>
                </c:pt>
                <c:pt idx="2">
                  <c:v>509453.89729729807</c:v>
                </c:pt>
                <c:pt idx="3">
                  <c:v>423960.41216216283</c:v>
                </c:pt>
                <c:pt idx="4">
                  <c:v>587203.9000000013</c:v>
                </c:pt>
                <c:pt idx="5">
                  <c:v>524129.86486486625</c:v>
                </c:pt>
                <c:pt idx="6">
                  <c:v>646718.7675675689</c:v>
                </c:pt>
                <c:pt idx="7">
                  <c:v>620115.0027027032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-688673.8581081079</c:v>
                </c:pt>
                <c:pt idx="1">
                  <c:v>-572377.9967567567</c:v>
                </c:pt>
                <c:pt idx="2">
                  <c:v>-453861.7086486486</c:v>
                </c:pt>
                <c:pt idx="3">
                  <c:v>-385190.7454054053</c:v>
                </c:pt>
                <c:pt idx="4">
                  <c:v>-208146.47999999998</c:v>
                </c:pt>
                <c:pt idx="5">
                  <c:v>-236951.55324324314</c:v>
                </c:pt>
                <c:pt idx="6">
                  <c:v>-167193.94189189188</c:v>
                </c:pt>
                <c:pt idx="7">
                  <c:v>-236951.55324324314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0,7–3 %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la campaña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la campaña de 35 pozos (~21 M USD): 0,15–0,59 M, es decir 4–17 k USD por pozo (pozo de 550–650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600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tener en cuenta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El Work Order tiene tope: lo comparamos contra su tarifa máxima. El tercerizado no tiene tope; el riesgo de cada hora extra queda en SierraCol.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2026-10-12T16:58:18Z</dcterms:created>
  <dcterms:modified xsi:type="dcterms:W3CDTF">2026-10-12T16:58:18Z</dcterms:modified>
</cp:coreProperties>
</file>