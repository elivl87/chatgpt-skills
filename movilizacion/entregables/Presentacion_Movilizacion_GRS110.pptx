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ón" id="{8014238a-a8d5-17b7-3deb-f345993eb452}">
          <p14:sldIdLst>
            <p14:sldId id="256"/>
          </p14:sldIdLst>
        </p14:section>
        <p14:section name="Estructura de costo" id="{998674bb-10da-3a6e-4ada-0031c4b08f8e}">
          <p14:sldIdLst>
            <p14:sldId id="257"/>
          </p14:sldIdLst>
        </p14:section>
        <p14:section name="Frontera" id="{91978678-3ee4-8da8-8f6e-9f89ccc6dbfc}">
          <p14:sldIdLst>
            <p14:sldId id="258"/>
          </p14:sldIdLst>
        </p14:section>
        <p14:section name="Pendientes" id="{16a1ba24-25a4-8969-1abb-648b7a4ad8b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6"/>
                </a:solidFill>
                <a:latin typeface="+mn-lt"/>
              </a:rPr>
              <a:t>Meses según cuántas movilizaciones tuvieron (logs)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2A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D6B7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a 3</c:v>
                  </c:pt>
                  <c:pt idx="1">
                    <c:v>4</c:v>
                  </c:pt>
                  <c:pt idx="2">
                    <c:v>5</c:v>
                  </c:pt>
                  <c:pt idx="3">
                    <c:v>6 o más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886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D6B7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a 3</c:v>
                  </c:pt>
                  <c:pt idx="1">
                    <c:v>4</c:v>
                  </c:pt>
                  <c:pt idx="2">
                    <c:v>5</c:v>
                  </c:pt>
                  <c:pt idx="3">
                    <c:v>6 o más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D6B7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D6B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6"/>
                </a:solidFill>
                <a:latin typeface="+mn-lt"/>
              </a:rPr>
              <a:t>Costo de una movilización de 0,1–5 km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Tarifa (WO o transportador)</c:v>
                </c:pt>
              </c:strCache>
            </c:strRef>
          </c:tx>
          <c:spPr>
            <a:solidFill>
              <a:srgbClr val="1F2A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 Order</c:v>
                  </c:pt>
                  <c:pt idx="1">
                    <c:v>Petro Star 1ª–5ª</c:v>
                  </c:pt>
                  <c:pt idx="2">
                    <c:v>Petro Star 6ª+</c:v>
                  </c:pt>
                  <c:pt idx="3">
                    <c:v>Ecotransur 1ª–5ª</c:v>
                  </c:pt>
                  <c:pt idx="4">
                    <c:v>Ecotransur 6ª+</c:v>
                  </c:pt>
                  <c:pt idx="5">
                    <c:v>Lump Sum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98663</c:v>
                </c:pt>
                <c:pt idx="1">
                  <c:v>59690</c:v>
                </c:pt>
                <c:pt idx="2">
                  <c:v>29845</c:v>
                </c:pt>
                <c:pt idx="3">
                  <c:v>56136</c:v>
                </c:pt>
                <c:pt idx="4">
                  <c:v>33292</c:v>
                </c:pt>
                <c:pt idx="5">
                  <c:v>82239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Señalizadoras faltantes (WO)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 Order</c:v>
                  </c:pt>
                  <c:pt idx="1">
                    <c:v>Petro Star 1ª–5ª</c:v>
                  </c:pt>
                  <c:pt idx="2">
                    <c:v>Petro Star 6ª+</c:v>
                  </c:pt>
                  <c:pt idx="3">
                    <c:v>Ecotransur 1ª–5ª</c:v>
                  </c:pt>
                  <c:pt idx="4">
                    <c:v>Ecotransur 6ª+</c:v>
                  </c:pt>
                  <c:pt idx="5">
                    <c:v>Lump Sum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Taladro 18 h × 1.456 USD/h</c:v>
                </c:pt>
              </c:strCache>
            </c:strRef>
          </c:tx>
          <c:spPr>
            <a:solidFill>
              <a:srgbClr val="C886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 Order</c:v>
                  </c:pt>
                  <c:pt idx="1">
                    <c:v>Petro Star 1ª–5ª</c:v>
                  </c:pt>
                  <c:pt idx="2">
                    <c:v>Petro Star 6ª+</c:v>
                  </c:pt>
                  <c:pt idx="3">
                    <c:v>Ecotransur 1ª–5ª</c:v>
                  </c:pt>
                  <c:pt idx="4">
                    <c:v>Ecotransur 6ª+</c:v>
                  </c:pt>
                  <c:pt idx="5">
                    <c:v>Lump Sum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26208</c:v>
                </c:pt>
                <c:pt idx="2">
                  <c:v>26208</c:v>
                </c:pt>
                <c:pt idx="3">
                  <c:v>26208</c:v>
                </c:pt>
                <c:pt idx="4">
                  <c:v>26208</c:v>
                </c:pt>
                <c:pt idx="5">
                  <c:v>26208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Truck Manager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 Order</c:v>
                  </c:pt>
                  <c:pt idx="1">
                    <c:v>Petro Star 1ª–5ª</c:v>
                  </c:pt>
                  <c:pt idx="2">
                    <c:v>Petro Star 6ª+</c:v>
                  </c:pt>
                  <c:pt idx="3">
                    <c:v>Ecotransur 1ª–5ª</c:v>
                  </c:pt>
                  <c:pt idx="4">
                    <c:v>Ecotransur 6ª+</c:v>
                  </c:pt>
                  <c:pt idx="5">
                    <c:v>Lump Sum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2703</c:v>
                </c:pt>
                <c:pt idx="2">
                  <c:v>2703</c:v>
                </c:pt>
                <c:pt idx="3">
                  <c:v>2703</c:v>
                </c:pt>
                <c:pt idx="4">
                  <c:v>2703</c:v>
                </c:pt>
                <c:pt idx="5">
                  <c:v>2703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1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D6B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6"/>
                </a:solidFill>
                <a:latin typeface="+mn-lt"/>
              </a:rPr>
              <a:t>Ahorro de la campaña 15 + 20 pozos frente al Work Order, según movilizaciones por mes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Petro Star tarifa normal</c:v>
                </c:pt>
              </c:strCache>
            </c:strRef>
          </c:tx>
          <c:spPr>
            <a:solidFill>
              <a:srgbClr val="C8860A"/>
            </a:solidFill>
            <a:ln w="31750" cap="flat">
              <a:solidFill>
                <a:srgbClr val="C886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860A"/>
              </a:solidFill>
              <a:ln w="9525" cap="flat">
                <a:solidFill>
                  <a:srgbClr val="C886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-1264695</c:v>
                </c:pt>
                <c:pt idx="1">
                  <c:v>-376051</c:v>
                </c:pt>
                <c:pt idx="2">
                  <c:v>-35058</c:v>
                </c:pt>
                <c:pt idx="3">
                  <c:v>199754</c:v>
                </c:pt>
                <c:pt idx="4">
                  <c:v>572947</c:v>
                </c:pt>
                <c:pt idx="5">
                  <c:v>730502</c:v>
                </c:pt>
                <c:pt idx="6">
                  <c:v>731309</c:v>
                </c:pt>
                <c:pt idx="7">
                  <c:v>868853</c:v>
                </c:pt>
                <c:pt idx="8">
                  <c:v>827901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Ecotransur</c:v>
                </c:pt>
              </c:strCache>
            </c:strRef>
          </c:tx>
          <c:spPr>
            <a:solidFill>
              <a:srgbClr val="2E7D5B"/>
            </a:solidFill>
            <a:ln w="3175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-1931371</c:v>
                </c:pt>
                <c:pt idx="1">
                  <c:v>-573466</c:v>
                </c:pt>
                <c:pt idx="2">
                  <c:v>105487</c:v>
                </c:pt>
                <c:pt idx="3">
                  <c:v>558122</c:v>
                </c:pt>
                <c:pt idx="4">
                  <c:v>635872</c:v>
                </c:pt>
                <c:pt idx="5">
                  <c:v>695386</c:v>
                </c:pt>
                <c:pt idx="6">
                  <c:v>668783</c:v>
                </c:pt>
                <c:pt idx="7">
                  <c:v>791372</c:v>
                </c:pt>
                <c:pt idx="8">
                  <c:v>791372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Petro Star Lump Sum (sin descuento)</c:v>
                </c:pt>
              </c:strCache>
            </c:strRef>
          </c:tx>
          <c:spPr>
            <a:solidFill>
              <a:srgbClr val="7A8A99"/>
            </a:solidFill>
            <a:ln w="31750" cap="flat">
              <a:solidFill>
                <a:srgbClr val="7A8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A8A99"/>
              </a:solidFill>
              <a:ln w="9525" cap="flat">
                <a:solidFill>
                  <a:srgbClr val="7A8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-1869644</c:v>
                </c:pt>
                <c:pt idx="1">
                  <c:v>-980999</c:v>
                </c:pt>
                <c:pt idx="2">
                  <c:v>-640006</c:v>
                </c:pt>
                <c:pt idx="3">
                  <c:v>-405194</c:v>
                </c:pt>
                <c:pt idx="4">
                  <c:v>-159479</c:v>
                </c:pt>
                <c:pt idx="5">
                  <c:v>-118526</c:v>
                </c:pt>
                <c:pt idx="6">
                  <c:v>-188284</c:v>
                </c:pt>
                <c:pt idx="7">
                  <c:v>-118526</c:v>
                </c:pt>
                <c:pt idx="8">
                  <c:v>-159479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D6B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D6B78"/>
                    </a:solidFill>
                    <a:latin typeface="Arial"/>
                  </a:rPr>
                  <a:t>Movilizaciones por mes (constante)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1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D6B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Frontera calculada con el simulador (hoja Simulador, sección 6, y campaña con frecuencia constante). Los umbrales salen de Cot. 1255 p. 2 y p. 4 y de la carta de Ecotransur p. 2–4.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Simulador filas 51 y 53–67; cargo fijo Cot. 1255 p. 4 y Ecotransur p. 2–3 a TRM 3.700. Ecotransur 6ª+ = solo equipos (p. 3–4).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Gráfico: frecuencia constante; con 1 movilización por mes las pérdidas son de −4,2 a −5,8 M (fuera de escala). Los dientes (p. ej. de 9 a 10) vienen del último mes de la campaña, que queda por debajo de 6 y vuelve a pagar cargo fijo. Tabla: hojas Real 2024 / Real 2025 del simulador, horas del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completo con valor de trabajo, alternativa y monto en juego por perfil de frecuencia: hoja Pendientes del simulador. Auditoría de la evaluación previa: archivo Auditoria_Evaluacion_Previa.xlsx.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SierraCol · Movilización del taladro GRS 110 · La Cira Infantas · Evaluación de modelo de contratación (no es adjudicación)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Tercerizar solo conviene si la frecuencia se sostiene todos los meses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Qué se decide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Mantener el Work Order (modelo directo: suma global por movilización, sin horas de taladro) o pasar al modelo tercerizado: SierraCol contrata aparte al transportador y paga además el taladro por hora durante la movilización y un coordinador de transporte (Truck Manager).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Qué no se decide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 se adjudica proveedor ni se declara un ahorro único. Se evalúan tres ofertas: Petro Star tarifa normal, Petro Star precio cerrado (Lump Sum) y Ecotransur.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Por qué la respuesta es una frontera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Work Order cuesta lo mismo por movilización haya 1 o 9 en el mes. El tercerizado cobra cargo fijo hasta la 4ª o 5ª movilización del mes y descuenta desde la 6ª: el resultado lo decide cuántas movilizaciones caen en cada mes, no el promedio.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4617720"/>
          <a:ext cx="56692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1"/>
          <p:cNvSpPr/>
          <p:nvPr/>
        </p:nvSpPr>
        <p:spPr>
          <a:xfrm>
            <a:off x="6675120" y="1325880"/>
            <a:ext cx="4937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43560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435608"/>
            <a:ext cx="2788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movilizaciones todos los meses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Petro Star tarifa normal deja de perder frente al Work Order (campaña 15 + 20 pozos en 0,1–5 km)</a:t>
            </a:r>
            <a:endParaRPr lang="en-US" sz="1400" dirty="0"/>
          </a:p>
        </p:txBody>
      </p:sp>
      <p:sp>
        <p:nvSpPr>
          <p:cNvPr id="8" name="card2"/>
          <p:cNvSpPr/>
          <p:nvPr/>
        </p:nvSpPr>
        <p:spPr>
          <a:xfrm>
            <a:off x="6675120" y="2807208"/>
            <a:ext cx="4937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91693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916936"/>
            <a:ext cx="2788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movilizaciones todos los meses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Ecotransur deja de perder frente al Work Order (misma campaña)</a:t>
            </a:r>
            <a:endParaRPr lang="en-US" sz="1400" dirty="0"/>
          </a:p>
        </p:txBody>
      </p:sp>
      <p:sp>
        <p:nvSpPr>
          <p:cNvPr id="11" name="card3"/>
          <p:cNvSpPr/>
          <p:nvPr/>
        </p:nvSpPr>
        <p:spPr>
          <a:xfrm>
            <a:off x="6675120" y="4288536"/>
            <a:ext cx="49377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4398264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cruza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398264"/>
            <a:ext cx="2788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 los precios del Excel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Petro Star Lump Sum sin descuento. Con los precios de la cotización 1255 sí cruzaría: pendiente de Compras (SCM)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57881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Si los 20 pozos quedan a 5–10 km, la frontera sube a 6 (Petro Star) y 5 (Ecotransur) movilizaciones por mes. Logs: 2024 tuvo 6 o más en 9 de 11 meses; 2025, en 4 de 9.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 tercerizado suma taladro y cargo fijo; a cambio descuenta desde la 6ª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4"/>
          <p:cNvSpPr/>
          <p:nvPr/>
        </p:nvSpPr>
        <p:spPr>
          <a:xfrm>
            <a:off x="7680960" y="1280160"/>
            <a:ext cx="3931920" cy="49377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Cargo fijo mensual si el mes no llega al mínimo (USD)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Movs en el 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 Star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Ecotransur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$133.751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$181.054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$95.139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$135.791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$69.758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4251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 que no se ve en la barra: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 Work Order es igual en cualquier mes; el tercerizado suma este cargo mientras el mes no llegue a 5 (Ecotransur) o a 6 (Petro Star). Lump Sum: sin descuento en la evaluación principal.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 frontera está entre 4 y 5 movilizaciones por mes, sostenidas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5"/>
          <p:cNvSpPr/>
          <p:nvPr/>
        </p:nvSpPr>
        <p:spPr>
          <a:xfrm>
            <a:off x="7680960" y="1280160"/>
            <a:ext cx="3931920" cy="49377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Ilustración, no resultado: repetir 2024 y 2025 con cada modelo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566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= tercerizado más barato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 Star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+0,19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Ecotransur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 Sum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−1,19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34290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2024: 70 movilizaciones, 6,4 por mes con movilizaciones. 2025: 45, 5,0 por mes. Con el Truck Manager cobrado por mes (no prorrateado), el ahorro a 4–5 movs/mes es menor y la frontera no se mueve.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En 2025 los meses de 1, 3 y 4 movilizaciones se comieron casi todo lo que ganaron los meses de 6 y 7.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Escenario prudente (frecuencia y mezcla de 2025, horas cotizadas por Petro Star): Petro Star −0,02 M y Ecotransur −0,01 M. Es el punto de equilibrio.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Los pendientes que más pesan restan casi todos ventaja al tercerizado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falta confirmar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 trabajo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juego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real de los 20 pozos fuera de la locación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0,1–5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−0,18 M a −0,43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 taladro por movilización (Excel vs Petro Star)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12/18/24/28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−0,17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¿Petro Star normal cobra aparte sus equipos adicionales?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−0,16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 Star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Cobro en un mes de campaña parada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cobra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−0,16 M a −0,23 M por 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Demora no atribuible al transportador (cotización 1255, condición 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demora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−2.813 por hora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 Star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perdido en perforación (NPT) (baja la frecuencia)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−0,24 M con 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 Sum: valores del Excel vs cotización 1255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+0,44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Riesgos no cuantificados: coordinación taladro–transportador, HSE y daños, disponibilidad, plazo y salida, pago en COP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valorar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cuantificado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/ HSE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6"/>
          <p:cNvSpPr/>
          <p:nvPr/>
        </p:nvSpPr>
        <p:spPr>
          <a:xfrm>
            <a:off x="8229600" y="1280160"/>
            <a:ext cx="3383280" cy="3749040"/>
          </a:xfrm>
          <a:prstGeom prst="roundRect">
            <a:avLst>
              <a:gd name="adj" fmla="val 2162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4630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Lectura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Sesgo sistemático: casi todos los supuestos empujan hacia el tercerizado; las excepciones son los precios del Lump Sum (+0,44 M) y el cargo fijo de Petro Star con 5 movilizaciones (+0,08 M). Con la frecuencia y la mezcla de 2025 y las horas que cotizó Petro Star, el ahorro desaparece (Petro Star −0,02 M; Ecotransur −0,01 M). Antes de cambiar el contrato: confirmar la frecuencia mensual esperada, el rango real de los pozos y la exposición a la tasa de cambio (TRM ±10 % mueve ±0,3 M).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vilizacion GRS110">
  <a:themeElements>
    <a:clrScheme name="Movilizacion GRS110">
      <a:dk1>
        <a:srgbClr val="1F2A36"/>
      </a:dk1>
      <a:lt1>
        <a:srgbClr val="FFFFFF"/>
      </a:lt1>
      <a:dk2>
        <a:srgbClr val="3B4754"/>
      </a:dk2>
      <a:lt2>
        <a:srgbClr val="EEF1F4"/>
      </a:lt2>
      <a:accent1>
        <a:srgbClr val="C8860A"/>
      </a:accent1>
      <a:accent2>
        <a:srgbClr val="1F2A36"/>
      </a:accent2>
      <a:accent3>
        <a:srgbClr val="7A8A99"/>
      </a:accent3>
      <a:accent4>
        <a:srgbClr val="2E7D5B"/>
      </a:accent4>
      <a:accent5>
        <a:srgbClr val="B03A2E"/>
      </a:accent5>
      <a:accent6>
        <a:srgbClr val="A9B4BF"/>
      </a:accent6>
      <a:hlink>
        <a:srgbClr val="1F6FB2"/>
      </a:hlink>
      <a:folHlink>
        <a:srgbClr val="6B4E9B"/>
      </a:folHlink>
    </a:clrScheme>
    <a:fontScheme name="Movilizacion GRS11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Movilización GRS 110: Work Order vs tercerizado</dc:title>
  <dc:subject>PptxGenJS Presentation</dc:subject>
  <dc:creator>PptxGenJS</dc:creator>
  <cp:lastModifiedBy>PptxGenJS</cp:lastModifiedBy>
  <cp:revision>1</cp:revision>
  <dcterms:created xsi:type="dcterms:W3CDTF">2026-10-12T15:39:12Z</dcterms:created>
  <dcterms:modified xsi:type="dcterms:W3CDTF">2026-10-12T15:39:12Z</dcterms:modified>
</cp:coreProperties>
</file>