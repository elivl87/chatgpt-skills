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cisión" id="{cf601a1e-d06c-5123-ce06-894ecd32d2c7}">
          <p14:sldIdLst>
            <p14:sldId id="256"/>
          </p14:sldIdLst>
        </p14:section>
        <p14:section name="Estructura de costo" id="{3da4cdd5-e736-06a4-332a-e75664cf8a09}">
          <p14:sldIdLst>
            <p14:sldId id="257"/>
          </p14:sldIdLst>
        </p14:section>
        <p14:section name="Frontera" id="{8b666fd5-4721-0221-cc7a-d3893d88822d}">
          <p14:sldIdLst>
            <p14:sldId id="258"/>
          </p14:sldIdLst>
        </p14:section>
        <p14:section name="Pendientes" id="{bd7ca3f0-9307-836b-6429-4fb61953a932}">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36"/>
                </a:solidFill>
                <a:latin typeface="+mn-lt"/>
              </a:defRPr>
            </a:pPr>
            <a:r>
              <a:rPr sz="1200" b="0" i="0" u="none" strike="noStrike">
                <a:solidFill>
                  <a:srgbClr val="1F2A36"/>
                </a:solidFill>
                <a:latin typeface="+mn-lt"/>
              </a:rPr>
              <a:t>Meses según cuántas movilizaciones tuvieron (logs)</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1F2A36"/>
            </a:solidFill>
            <a:effectLst/>
          </c:spPr>
          <c:invertIfNegative val="0"/>
          <c:dLbls>
            <c:numFmt formatCode="#,##0" sourceLinked="0"/>
            <c:txPr>
              <a:bodyPr/>
              <a:lstStyle/>
              <a:p>
                <a:pPr>
                  <a:defRPr b="0" i="0" strike="noStrike" sz="1000" u="none">
                    <a:solidFill>
                      <a:srgbClr val="5D6B78"/>
                    </a:solidFill>
                    <a:latin typeface="+mn-lt"/>
                  </a:defRPr>
                </a:pPr>
              </a:p>
            </c:txPr>
            <c:showLegendKey val="0"/>
            <c:showVal val="1"/>
            <c:showCatName val="0"/>
            <c:showSerName val="0"/>
            <c:showPercent val="0"/>
            <c:showBubbleSize val="0"/>
            <c:showLeaderLines val="0"/>
          </c:dLbls>
          <c:cat>
            <c:multiLvlStrRef>
              <c:f>Sheet1!$A$2:$A$5</c:f>
              <c:multiLvlStrCache>
                <c:ptCount val="4"/>
                <c:lvl>
                  <c:pt idx="0">
                    <c:v>1 a 3</c:v>
                  </c:pt>
                  <c:pt idx="1">
                    <c:v>4</c:v>
                  </c:pt>
                  <c:pt idx="2">
                    <c:v>5</c:v>
                  </c:pt>
                  <c:pt idx="3">
                    <c:v>6 o más</c:v>
                  </c:pt>
                </c:lvl>
              </c:multiLvlStrCache>
            </c:multiLvlStrRef>
          </c:cat>
          <c:val>
            <c:numRef>
              <c:f>Sheet1!$B$2:$B$5</c:f>
              <c:numCache>
                <c:formatCode>General</c:formatCode>
                <c:ptCount val="4"/>
                <c:pt idx="0">
                  <c:v>2</c:v>
                </c:pt>
                <c:pt idx="1">
                  <c:v>0</c:v>
                </c:pt>
                <c:pt idx="2">
                  <c:v>0</c:v>
                </c:pt>
                <c:pt idx="3">
                  <c:v>9</c:v>
                </c:pt>
              </c:numCache>
            </c:numRef>
          </c:val>
        </c:ser>
        <c:ser>
          <c:idx val="1"/>
          <c:order val="1"/>
          <c:tx>
            <c:strRef>
              <c:f>Sheet1!$C$1</c:f>
              <c:strCache>
                <c:ptCount val="1"/>
                <c:pt idx="0">
                  <c:v>2025</c:v>
                </c:pt>
              </c:strCache>
            </c:strRef>
          </c:tx>
          <c:spPr>
            <a:solidFill>
              <a:srgbClr val="C8860A"/>
            </a:solidFill>
            <a:effectLst/>
          </c:spPr>
          <c:invertIfNegative val="0"/>
          <c:dLbls>
            <c:numFmt formatCode="#,##0" sourceLinked="0"/>
            <c:txPr>
              <a:bodyPr/>
              <a:lstStyle/>
              <a:p>
                <a:pPr>
                  <a:defRPr b="0" i="0" strike="noStrike" sz="1000" u="none">
                    <a:solidFill>
                      <a:srgbClr val="5D6B78"/>
                    </a:solidFill>
                    <a:latin typeface="+mn-lt"/>
                  </a:defRPr>
                </a:pPr>
              </a:p>
            </c:txPr>
            <c:showLegendKey val="0"/>
            <c:showVal val="1"/>
            <c:showCatName val="0"/>
            <c:showSerName val="0"/>
            <c:showPercent val="0"/>
            <c:showBubbleSize val="0"/>
            <c:showLeaderLines val="0"/>
          </c:dLbls>
          <c:cat>
            <c:multiLvlStrRef>
              <c:f>Sheet1!$A$2:$A$5</c:f>
              <c:multiLvlStrCache>
                <c:ptCount val="4"/>
                <c:lvl>
                  <c:pt idx="0">
                    <c:v>1 a 3</c:v>
                  </c:pt>
                  <c:pt idx="1">
                    <c:v>4</c:v>
                  </c:pt>
                  <c:pt idx="2">
                    <c:v>5</c:v>
                  </c:pt>
                  <c:pt idx="3">
                    <c:v>6 o más</c:v>
                  </c:pt>
                </c:lvl>
              </c:multiLvlStrCache>
            </c:multiLvlStrRef>
          </c:cat>
          <c:val>
            <c:numRef>
              <c:f>Sheet1!$C$2:$C$5</c:f>
              <c:numCache>
                <c:formatCode>General</c:formatCode>
                <c:ptCount val="4"/>
                <c:pt idx="0">
                  <c:v>2</c:v>
                </c:pt>
                <c:pt idx="1">
                  <c:v>1</c:v>
                </c:pt>
                <c:pt idx="2">
                  <c:v>2</c:v>
                </c:pt>
                <c:pt idx="3">
                  <c:v>4</c:v>
                </c:pt>
              </c:numCache>
            </c:numRef>
          </c:val>
        </c:ser>
        <c:dLbls>
          <c:numFmt formatCode="#,##0" sourceLinked="0"/>
          <c:txPr>
            <a:bodyPr/>
            <a:lstStyle/>
            <a:p>
              <a:pPr>
                <a:defRPr b="0" i="0" strike="noStrike" sz="1000" u="none">
                  <a:solidFill>
                    <a:srgbClr val="5D6B7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D6B7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solidFill>
                <a:srgbClr val="5D6B7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36"/>
                </a:solidFill>
                <a:latin typeface="+mn-lt"/>
              </a:defRPr>
            </a:pPr>
            <a:r>
              <a:rPr sz="1300" b="0" i="0" u="none" strike="noStrike">
                <a:solidFill>
                  <a:srgbClr val="1F2A36"/>
                </a:solidFill>
                <a:latin typeface="+mn-lt"/>
              </a:rPr>
              <a:t>Costo de una movilización de 0,1–5 km (USD)</a:t>
            </a:r>
          </a:p>
        </c:rich>
      </c:tx>
      <c:layout/>
      <c:overlay val="0"/>
    </c:title>
    <c:autoTitleDeleted val="0"/>
    <c:plotArea>
      <c:layout/>
      <c:barChart>
        <c:barDir val="col"/>
        <c:grouping val="stacked"/>
        <c:varyColors val="0"/>
        <c:ser>
          <c:idx val="0"/>
          <c:order val="0"/>
          <c:tx>
            <c:strRef>
              <c:f>Sheet1!$B$1</c:f>
              <c:strCache>
                <c:ptCount val="1"/>
                <c:pt idx="0">
                  <c:v>Tarifa (WO o transportador)</c:v>
                </c:pt>
              </c:strCache>
            </c:strRef>
          </c:tx>
          <c:spPr>
            <a:solidFill>
              <a:srgbClr val="1F2A3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Work Order</c:v>
                  </c:pt>
                  <c:pt idx="1">
                    <c:v>Petro Star 1ª–5ª</c:v>
                  </c:pt>
                  <c:pt idx="2">
                    <c:v>Petro Star 6ª+</c:v>
                  </c:pt>
                  <c:pt idx="3">
                    <c:v>Ecotransur 1ª–5ª</c:v>
                  </c:pt>
                  <c:pt idx="4">
                    <c:v>Ecotransur 6ª+</c:v>
                  </c:pt>
                  <c:pt idx="5">
                    <c:v>Lump Sum</c:v>
                  </c:pt>
                </c:lvl>
              </c:multiLvlStrCache>
            </c:multiLvlStrRef>
          </c:cat>
          <c:val>
            <c:numRef>
              <c:f>Sheet1!$B$2:$B$7</c:f>
              <c:numCache>
                <c:formatCode>General</c:formatCode>
                <c:ptCount val="6"/>
                <c:pt idx="0">
                  <c:v>98663</c:v>
                </c:pt>
                <c:pt idx="1">
                  <c:v>59690</c:v>
                </c:pt>
                <c:pt idx="2">
                  <c:v>29845</c:v>
                </c:pt>
                <c:pt idx="3">
                  <c:v>56136</c:v>
                </c:pt>
                <c:pt idx="4">
                  <c:v>33292</c:v>
                </c:pt>
                <c:pt idx="5">
                  <c:v>82239</c:v>
                </c:pt>
              </c:numCache>
            </c:numRef>
          </c:val>
        </c:ser>
        <c:ser>
          <c:idx val="1"/>
          <c:order val="1"/>
          <c:tx>
            <c:strRef>
              <c:f>Sheet1!$C$1</c:f>
              <c:strCache>
                <c:ptCount val="1"/>
                <c:pt idx="0">
                  <c:v>Señalizadoras faltantes (WO)</c:v>
                </c:pt>
              </c:strCache>
            </c:strRef>
          </c:tx>
          <c:spPr>
            <a:solidFill>
              <a:srgbClr val="B03A2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Work Order</c:v>
                  </c:pt>
                  <c:pt idx="1">
                    <c:v>Petro Star 1ª–5ª</c:v>
                  </c:pt>
                  <c:pt idx="2">
                    <c:v>Petro Star 6ª+</c:v>
                  </c:pt>
                  <c:pt idx="3">
                    <c:v>Ecotransur 1ª–5ª</c:v>
                  </c:pt>
                  <c:pt idx="4">
                    <c:v>Ecotransur 6ª+</c:v>
                  </c:pt>
                  <c:pt idx="5">
                    <c:v>Lump Sum</c:v>
                  </c:pt>
                </c:lvl>
              </c:multiLvlStrCache>
            </c:multiLvlStrRef>
          </c:cat>
          <c:val>
            <c:numRef>
              <c:f>Sheet1!$C$2:$C$7</c:f>
              <c:numCache>
                <c:formatCode>General</c:formatCode>
                <c:ptCount val="6"/>
                <c:pt idx="0">
                  <c:v>811</c:v>
                </c:pt>
                <c:pt idx="1">
                  <c:v>0</c:v>
                </c:pt>
                <c:pt idx="2">
                  <c:v>0</c:v>
                </c:pt>
                <c:pt idx="3">
                  <c:v>0</c:v>
                </c:pt>
                <c:pt idx="4">
                  <c:v>0</c:v>
                </c:pt>
                <c:pt idx="5">
                  <c:v>0</c:v>
                </c:pt>
              </c:numCache>
            </c:numRef>
          </c:val>
        </c:ser>
        <c:ser>
          <c:idx val="2"/>
          <c:order val="2"/>
          <c:tx>
            <c:strRef>
              <c:f>Sheet1!$D$1</c:f>
              <c:strCache>
                <c:ptCount val="1"/>
                <c:pt idx="0">
                  <c:v>Taladro 18 h × 1.456 USD/h</c:v>
                </c:pt>
              </c:strCache>
            </c:strRef>
          </c:tx>
          <c:spPr>
            <a:solidFill>
              <a:srgbClr val="C8860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Work Order</c:v>
                  </c:pt>
                  <c:pt idx="1">
                    <c:v>Petro Star 1ª–5ª</c:v>
                  </c:pt>
                  <c:pt idx="2">
                    <c:v>Petro Star 6ª+</c:v>
                  </c:pt>
                  <c:pt idx="3">
                    <c:v>Ecotransur 1ª–5ª</c:v>
                  </c:pt>
                  <c:pt idx="4">
                    <c:v>Ecotransur 6ª+</c:v>
                  </c:pt>
                  <c:pt idx="5">
                    <c:v>Lump Sum</c:v>
                  </c:pt>
                </c:lvl>
              </c:multiLvlStrCache>
            </c:multiLvlStrRef>
          </c:cat>
          <c:val>
            <c:numRef>
              <c:f>Sheet1!$D$2:$D$7</c:f>
              <c:numCache>
                <c:formatCode>General</c:formatCode>
                <c:ptCount val="6"/>
                <c:pt idx="0">
                  <c:v>0</c:v>
                </c:pt>
                <c:pt idx="1">
                  <c:v>26208</c:v>
                </c:pt>
                <c:pt idx="2">
                  <c:v>26208</c:v>
                </c:pt>
                <c:pt idx="3">
                  <c:v>26208</c:v>
                </c:pt>
                <c:pt idx="4">
                  <c:v>26208</c:v>
                </c:pt>
                <c:pt idx="5">
                  <c:v>26208</c:v>
                </c:pt>
              </c:numCache>
            </c:numRef>
          </c:val>
        </c:ser>
        <c:ser>
          <c:idx val="3"/>
          <c:order val="3"/>
          <c:tx>
            <c:strRef>
              <c:f>Sheet1!$E$1</c:f>
              <c:strCache>
                <c:ptCount val="1"/>
                <c:pt idx="0">
                  <c:v>Truck Manager</c:v>
                </c:pt>
              </c:strCache>
            </c:strRef>
          </c:tx>
          <c:spPr>
            <a:solidFill>
              <a:srgbClr val="A9B4B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Work Order</c:v>
                  </c:pt>
                  <c:pt idx="1">
                    <c:v>Petro Star 1ª–5ª</c:v>
                  </c:pt>
                  <c:pt idx="2">
                    <c:v>Petro Star 6ª+</c:v>
                  </c:pt>
                  <c:pt idx="3">
                    <c:v>Ecotransur 1ª–5ª</c:v>
                  </c:pt>
                  <c:pt idx="4">
                    <c:v>Ecotransur 6ª+</c:v>
                  </c:pt>
                  <c:pt idx="5">
                    <c:v>Lump Sum</c:v>
                  </c:pt>
                </c:lvl>
              </c:multiLvlStrCache>
            </c:multiLvlStrRef>
          </c:cat>
          <c:val>
            <c:numRef>
              <c:f>Sheet1!$E$2:$E$7</c:f>
              <c:numCache>
                <c:formatCode>General</c:formatCode>
                <c:ptCount val="6"/>
                <c:pt idx="0">
                  <c:v>0</c:v>
                </c:pt>
                <c:pt idx="1">
                  <c:v>2703</c:v>
                </c:pt>
                <c:pt idx="2">
                  <c:v>2703</c:v>
                </c:pt>
                <c:pt idx="3">
                  <c:v>2703</c:v>
                </c:pt>
                <c:pt idx="4">
                  <c:v>2703</c:v>
                </c:pt>
                <c:pt idx="5">
                  <c:v>2703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D6B7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D6B7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36"/>
                </a:solidFill>
                <a:latin typeface="+mn-lt"/>
              </a:defRPr>
            </a:pPr>
            <a:r>
              <a:rPr sz="1300" b="0" i="0" u="none" strike="noStrike">
                <a:solidFill>
                  <a:srgbClr val="1F2A36"/>
                </a:solidFill>
                <a:latin typeface="+mn-lt"/>
              </a:rPr>
              <a:t>Ahorro de la campaña 15 + 20 pozos frente al Work Order, según movilizaciones por mes (USD)</a:t>
            </a:r>
          </a:p>
        </c:rich>
      </c:tx>
      <c:layout/>
      <c:overlay val="0"/>
    </c:title>
    <c:autoTitleDeleted val="0"/>
    <c:plotArea>
      <c:layout/>
      <c:lineChart>
        <c:varyColors val="0"/>
        <c:ser>
          <c:idx val="0"/>
          <c:order val="0"/>
          <c:tx>
            <c:strRef>
              <c:f>Sheet1!$B$1</c:f>
              <c:strCache>
                <c:ptCount val="1"/>
                <c:pt idx="0">
                  <c:v>Petro Star tarifa normal</c:v>
                </c:pt>
              </c:strCache>
            </c:strRef>
          </c:tx>
          <c:spPr>
            <a:solidFill>
              <a:srgbClr val="C8860A"/>
            </a:solidFill>
            <a:ln w="31750" cap="flat">
              <a:solidFill>
                <a:srgbClr val="C886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8860A"/>
              </a:solidFill>
              <a:ln w="9525" cap="flat">
                <a:solidFill>
                  <a:srgbClr val="C8860A"/>
                </a:solidFill>
                <a:prstDash val="solid"/>
                <a:round/>
              </a:ln>
              <a:effectLst/>
            </c:spPr>
          </c:marker>
          <c:cat>
            <c:multiLvlStrRef>
              <c:f>Sheet1!$A$2:$A$10</c:f>
              <c:multiLvlStrCache>
                <c:ptCount val="9"/>
                <c:lvl>
                  <c:pt idx="0">
                    <c:v>2</c:v>
                  </c:pt>
                  <c:pt idx="1">
                    <c:v>3</c:v>
                  </c:pt>
                  <c:pt idx="2">
                    <c:v>4</c:v>
                  </c:pt>
                  <c:pt idx="3">
                    <c:v>5</c:v>
                  </c:pt>
                  <c:pt idx="4">
                    <c:v>6</c:v>
                  </c:pt>
                  <c:pt idx="5">
                    <c:v>7</c:v>
                  </c:pt>
                  <c:pt idx="6">
                    <c:v>8</c:v>
                  </c:pt>
                  <c:pt idx="7">
                    <c:v>9</c:v>
                  </c:pt>
                  <c:pt idx="8">
                    <c:v>10</c:v>
                  </c:pt>
                </c:lvl>
              </c:multiLvlStrCache>
            </c:multiLvlStrRef>
          </c:cat>
          <c:val>
            <c:numRef>
              <c:f>Sheet1!$B$2:$B$10</c:f>
              <c:numCache>
                <c:formatCode>General</c:formatCode>
                <c:ptCount val="9"/>
                <c:pt idx="0">
                  <c:v>-1264695</c:v>
                </c:pt>
                <c:pt idx="1">
                  <c:v>-376051</c:v>
                </c:pt>
                <c:pt idx="2">
                  <c:v>-35058</c:v>
                </c:pt>
                <c:pt idx="3">
                  <c:v>199754</c:v>
                </c:pt>
                <c:pt idx="4">
                  <c:v>572947</c:v>
                </c:pt>
                <c:pt idx="5">
                  <c:v>730502</c:v>
                </c:pt>
                <c:pt idx="6">
                  <c:v>731309</c:v>
                </c:pt>
                <c:pt idx="7">
                  <c:v>868853</c:v>
                </c:pt>
                <c:pt idx="8">
                  <c:v>827901</c:v>
                </c:pt>
              </c:numCache>
            </c:numRef>
          </c:val>
          <c:smooth val="0"/>
        </c:ser>
        <c:ser>
          <c:idx val="1"/>
          <c:order val="1"/>
          <c:tx>
            <c:strRef>
              <c:f>Sheet1!$C$1</c:f>
              <c:strCache>
                <c:ptCount val="1"/>
                <c:pt idx="0">
                  <c:v>Ecotransur</c:v>
                </c:pt>
              </c:strCache>
            </c:strRef>
          </c:tx>
          <c:spPr>
            <a:solidFill>
              <a:srgbClr val="2E7D5B"/>
            </a:solidFill>
            <a:ln w="31750" cap="flat">
              <a:solidFill>
                <a:srgbClr val="2E7D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7D5B"/>
              </a:solidFill>
              <a:ln w="9525" cap="flat">
                <a:solidFill>
                  <a:srgbClr val="2E7D5B"/>
                </a:solidFill>
                <a:prstDash val="solid"/>
                <a:round/>
              </a:ln>
              <a:effectLst/>
            </c:spPr>
          </c:marker>
          <c:cat>
            <c:multiLvlStrRef>
              <c:f>Sheet1!$A$2:$A$10</c:f>
              <c:multiLvlStrCache>
                <c:ptCount val="9"/>
                <c:lvl>
                  <c:pt idx="0">
                    <c:v>2</c:v>
                  </c:pt>
                  <c:pt idx="1">
                    <c:v>3</c:v>
                  </c:pt>
                  <c:pt idx="2">
                    <c:v>4</c:v>
                  </c:pt>
                  <c:pt idx="3">
                    <c:v>5</c:v>
                  </c:pt>
                  <c:pt idx="4">
                    <c:v>6</c:v>
                  </c:pt>
                  <c:pt idx="5">
                    <c:v>7</c:v>
                  </c:pt>
                  <c:pt idx="6">
                    <c:v>8</c:v>
                  </c:pt>
                  <c:pt idx="7">
                    <c:v>9</c:v>
                  </c:pt>
                  <c:pt idx="8">
                    <c:v>10</c:v>
                  </c:pt>
                </c:lvl>
              </c:multiLvlStrCache>
            </c:multiLvlStrRef>
          </c:cat>
          <c:val>
            <c:numRef>
              <c:f>Sheet1!$C$2:$C$10</c:f>
              <c:numCache>
                <c:formatCode>General</c:formatCode>
                <c:ptCount val="9"/>
                <c:pt idx="0">
                  <c:v>-1931371</c:v>
                </c:pt>
                <c:pt idx="1">
                  <c:v>-573466</c:v>
                </c:pt>
                <c:pt idx="2">
                  <c:v>105487</c:v>
                </c:pt>
                <c:pt idx="3">
                  <c:v>558122</c:v>
                </c:pt>
                <c:pt idx="4">
                  <c:v>635872</c:v>
                </c:pt>
                <c:pt idx="5">
                  <c:v>695386</c:v>
                </c:pt>
                <c:pt idx="6">
                  <c:v>668783</c:v>
                </c:pt>
                <c:pt idx="7">
                  <c:v>791372</c:v>
                </c:pt>
                <c:pt idx="8">
                  <c:v>791372</c:v>
                </c:pt>
              </c:numCache>
            </c:numRef>
          </c:val>
          <c:smooth val="0"/>
        </c:ser>
        <c:ser>
          <c:idx val="2"/>
          <c:order val="2"/>
          <c:tx>
            <c:strRef>
              <c:f>Sheet1!$D$1</c:f>
              <c:strCache>
                <c:ptCount val="1"/>
                <c:pt idx="0">
                  <c:v>Petro Star Lump Sum (sin descuento)</c:v>
                </c:pt>
              </c:strCache>
            </c:strRef>
          </c:tx>
          <c:spPr>
            <a:solidFill>
              <a:srgbClr val="7A8A99"/>
            </a:solidFill>
            <a:ln w="31750" cap="flat">
              <a:solidFill>
                <a:srgbClr val="7A8A9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A8A99"/>
              </a:solidFill>
              <a:ln w="9525" cap="flat">
                <a:solidFill>
                  <a:srgbClr val="7A8A99"/>
                </a:solidFill>
                <a:prstDash val="solid"/>
                <a:round/>
              </a:ln>
              <a:effectLst/>
            </c:spPr>
          </c:marker>
          <c:cat>
            <c:multiLvlStrRef>
              <c:f>Sheet1!$A$2:$A$10</c:f>
              <c:multiLvlStrCache>
                <c:ptCount val="9"/>
                <c:lvl>
                  <c:pt idx="0">
                    <c:v>2</c:v>
                  </c:pt>
                  <c:pt idx="1">
                    <c:v>3</c:v>
                  </c:pt>
                  <c:pt idx="2">
                    <c:v>4</c:v>
                  </c:pt>
                  <c:pt idx="3">
                    <c:v>5</c:v>
                  </c:pt>
                  <c:pt idx="4">
                    <c:v>6</c:v>
                  </c:pt>
                  <c:pt idx="5">
                    <c:v>7</c:v>
                  </c:pt>
                  <c:pt idx="6">
                    <c:v>8</c:v>
                  </c:pt>
                  <c:pt idx="7">
                    <c:v>9</c:v>
                  </c:pt>
                  <c:pt idx="8">
                    <c:v>10</c:v>
                  </c:pt>
                </c:lvl>
              </c:multiLvlStrCache>
            </c:multiLvlStrRef>
          </c:cat>
          <c:val>
            <c:numRef>
              <c:f>Sheet1!$D$2:$D$10</c:f>
              <c:numCache>
                <c:formatCode>General</c:formatCode>
                <c:ptCount val="9"/>
                <c:pt idx="0">
                  <c:v>-1869644</c:v>
                </c:pt>
                <c:pt idx="1">
                  <c:v>-980999</c:v>
                </c:pt>
                <c:pt idx="2">
                  <c:v>-640006</c:v>
                </c:pt>
                <c:pt idx="3">
                  <c:v>-405194</c:v>
                </c:pt>
                <c:pt idx="4">
                  <c:v>-159479</c:v>
                </c:pt>
                <c:pt idx="5">
                  <c:v>-118526</c:v>
                </c:pt>
                <c:pt idx="6">
                  <c:v>-188284</c:v>
                </c:pt>
                <c:pt idx="7">
                  <c:v>-118526</c:v>
                </c:pt>
                <c:pt idx="8">
                  <c:v>-159479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D6B78"/>
                    </a:solidFill>
                    <a:latin typeface="Arial"/>
                  </a:defRPr>
                </a:pPr>
                <a:r>
                  <a:rPr sz="1000" b="0" i="0" u="none" strike="noStrike">
                    <a:solidFill>
                      <a:srgbClr val="5D6B78"/>
                    </a:solidFill>
                    <a:latin typeface="Arial"/>
                  </a:rPr>
                  <a:t>Movilizaciones por mes (constante)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D6B7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B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D6B7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Frontera calculada con el simulador (hoja Simulador, sección 6, y campaña con frecuencia constante). Los umbrales salen de Cot. 1255 p. 2 y p. 4 y de la carta de Ecotransur p.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Fuente: Simulador filas 51 y 53–67; cargo fijo Cot. 1255 p. 4 y Ecotransur p. 2–3 a TRM 3.700. Ecotransur 6ª+ = solo equipos (p.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Gráfico: frecuencia constante; con 1 movilización por mes las pérdidas son de −4,2 a −5,8 M (fuera de escala). Tabla: hojas Real 2024 / Real 2025 del simulador, horas del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completo con valor de trabajo, alternativa y monto en juego por perfil de frecuencia: hoja Pendientes del simulador. Auditoría de la evaluación previa: archivo Auditoria_Evaluacion_Previa.xlsx.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tx2"/>
                </a:solidFill>
              </a:rPr>
              <a:t>SierraCol · Movilización del taladro GRS 110 · La Cira Infantas · Evaluación de modelo de contratación (no es adjudicación)</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t"/>
          <a:lstStyle/>
          <a:p>
            <a:pPr algn="l" indent="0" marL="0">
              <a:buNone/>
            </a:pPr>
            <a:r>
              <a:rPr lang="en-US" sz="2400" b="1" dirty="0">
                <a:solidFill>
                  <a:schemeClr val="tx1"/>
                </a:solidFill>
              </a:rPr>
              <a:t>Tercerizar solo conviene si la frecuencia se sostiene todos los meses</a:t>
            </a:r>
            <a:endParaRPr lang="en-US" sz="2400" dirty="0"/>
          </a:p>
        </p:txBody>
      </p:sp>
      <p:sp>
        <p:nvSpPr>
          <p:cNvPr id="3" name="Text 1"/>
          <p:cNvSpPr txBox="1"/>
          <p:nvPr/>
        </p:nvSpPr>
        <p:spPr>
          <a:xfrm>
            <a:off x="548640" y="1325880"/>
            <a:ext cx="5669280" cy="3017520"/>
          </a:xfrm>
          <a:prstGeom prst="rect">
            <a:avLst/>
          </a:prstGeom>
          <a:noFill/>
          <a:ln/>
        </p:spPr>
        <p:txBody>
          <a:bodyPr wrap="square" lIns="0" tIns="0" rIns="0" bIns="0" rtlCol="0" anchor="t"/>
          <a:lstStyle/>
          <a:p>
            <a:pPr indent="0" marL="0">
              <a:buNone/>
            </a:pPr>
            <a:r>
              <a:rPr lang="en-US" sz="1600" b="1" dirty="0">
                <a:solidFill>
                  <a:schemeClr val="accent1"/>
                </a:solidFill>
              </a:rPr>
              <a:t>Qué se decide</a:t>
            </a:r>
            <a:endParaRPr lang="en-US" sz="1600" dirty="0"/>
          </a:p>
          <a:p>
            <a:pPr indent="0" marL="0">
              <a:spcAft>
                <a:spcPts val="1000"/>
              </a:spcAft>
              <a:buNone/>
            </a:pPr>
            <a:r>
              <a:rPr lang="en-US" sz="1400" dirty="0">
                <a:solidFill>
                  <a:schemeClr val="tx1"/>
                </a:solidFill>
              </a:rPr>
              <a:t>Mantener el Work Order (suma global por movilización, sin horas de taladro) o pasar a contratar directamente al transportador, pagando además el taladro por hora y un Truck Manager.</a:t>
            </a:r>
            <a:endParaRPr lang="en-US" sz="1600" dirty="0"/>
          </a:p>
          <a:p>
            <a:pPr indent="0" marL="0">
              <a:buNone/>
            </a:pPr>
            <a:r>
              <a:rPr lang="en-US" sz="1600" b="1" dirty="0">
                <a:solidFill>
                  <a:schemeClr val="accent1"/>
                </a:solidFill>
              </a:rPr>
              <a:t>Qué no se decide</a:t>
            </a:r>
            <a:endParaRPr lang="en-US" sz="1600" dirty="0"/>
          </a:p>
          <a:p>
            <a:pPr indent="0" marL="0">
              <a:spcAft>
                <a:spcPts val="1000"/>
              </a:spcAft>
              <a:buNone/>
            </a:pPr>
            <a:r>
              <a:rPr lang="en-US" sz="1400" dirty="0">
                <a:solidFill>
                  <a:schemeClr val="tx1"/>
                </a:solidFill>
              </a:rPr>
              <a:t>No se adjudica proveedor ni se declara un ahorro único. Se evalúan tres ofertas: Petro Star tarifa normal, Petro Star Lump Sum y Ecotransur.</a:t>
            </a:r>
            <a:endParaRPr lang="en-US" sz="1600" dirty="0"/>
          </a:p>
          <a:p>
            <a:pPr indent="0" marL="0">
              <a:buNone/>
            </a:pPr>
            <a:r>
              <a:rPr lang="en-US" sz="1600" b="1" dirty="0">
                <a:solidFill>
                  <a:schemeClr val="accent1"/>
                </a:solidFill>
              </a:rPr>
              <a:t>Por qué la respuesta es una frontera</a:t>
            </a:r>
            <a:endParaRPr lang="en-US" sz="1600" dirty="0"/>
          </a:p>
          <a:p>
            <a:pPr indent="0" marL="0">
              <a:buNone/>
            </a:pPr>
            <a:r>
              <a:rPr lang="en-US" sz="1400" dirty="0">
                <a:solidFill>
                  <a:schemeClr val="tx1"/>
                </a:solidFill>
              </a:rPr>
              <a:t>El Work Order cuesta lo mismo por movilización haya 1 o 9 en el mes. El tercerizado cobra cargo fijo hasta la 4ª o 5ª movilización del mes y descuenta desde la 6ª: el resultado lo decide cuántas movilizaciones caen en cada mes, no el promedio.</a:t>
            </a:r>
            <a:endParaRPr lang="en-US" sz="1600" dirty="0"/>
          </a:p>
        </p:txBody>
      </p:sp>
      <p:graphicFrame>
        <p:nvGraphicFramePr>
          <p:cNvPr id="4" name="Chart 0" descr=""/>
          <p:cNvGraphicFramePr/>
          <p:nvPr/>
        </p:nvGraphicFramePr>
        <p:xfrm>
          <a:off x="548640" y="4434840"/>
          <a:ext cx="5669280" cy="1828800"/>
        </p:xfrm>
        <a:graphic xmlns:a="http://schemas.openxmlformats.org/drawingml/2006/main">
          <a:graphicData uri="http://schemas.openxmlformats.org/drawingml/2006/chart">
            <c:chart xmlns:c="http://schemas.openxmlformats.org/drawingml/2006/chart" r:id="rId1"/>
          </a:graphicData>
        </a:graphic>
      </p:graphicFrame>
      <p:sp>
        <p:nvSpPr>
          <p:cNvPr id="5" name="card1"/>
          <p:cNvSpPr/>
          <p:nvPr/>
        </p:nvSpPr>
        <p:spPr>
          <a:xfrm>
            <a:off x="6675120" y="1325880"/>
            <a:ext cx="4937760" cy="1298448"/>
          </a:xfrm>
          <a:prstGeom prst="roundRect">
            <a:avLst>
              <a:gd name="adj" fmla="val 5634"/>
            </a:avLst>
          </a:prstGeom>
          <a:solidFill>
            <a:schemeClr val="bg2"/>
          </a:solidFill>
          <a:ln w="12700">
            <a:solidFill>
              <a:schemeClr val="bg2"/>
            </a:solidFill>
            <a:prstDash val="solid"/>
          </a:ln>
        </p:spPr>
      </p:sp>
      <p:sp>
        <p:nvSpPr>
          <p:cNvPr id="6" name="Text 3"/>
          <p:cNvSpPr txBox="1"/>
          <p:nvPr/>
        </p:nvSpPr>
        <p:spPr>
          <a:xfrm>
            <a:off x="6858000" y="1435608"/>
            <a:ext cx="1737360" cy="105156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 5</a:t>
            </a:r>
            <a:endParaRPr lang="en-US" sz="4000" dirty="0"/>
          </a:p>
        </p:txBody>
      </p:sp>
      <p:sp>
        <p:nvSpPr>
          <p:cNvPr id="7" name="Text 4"/>
          <p:cNvSpPr txBox="1"/>
          <p:nvPr/>
        </p:nvSpPr>
        <p:spPr>
          <a:xfrm>
            <a:off x="8686800" y="1435608"/>
            <a:ext cx="2788920" cy="1078992"/>
          </a:xfrm>
          <a:prstGeom prst="rect">
            <a:avLst/>
          </a:prstGeom>
          <a:noFill/>
          <a:ln/>
        </p:spPr>
        <p:txBody>
          <a:bodyPr wrap="square" lIns="0" tIns="0" rIns="0" bIns="0" rtlCol="0" anchor="ctr"/>
          <a:lstStyle/>
          <a:p>
            <a:pPr indent="0" marL="0">
              <a:buNone/>
            </a:pPr>
            <a:r>
              <a:rPr lang="en-US" sz="1400" b="1" dirty="0">
                <a:solidFill>
                  <a:schemeClr val="tx1"/>
                </a:solidFill>
              </a:rPr>
              <a:t>movilizaciones todos los meses</a:t>
            </a:r>
            <a:endParaRPr lang="en-US" sz="1400" dirty="0"/>
          </a:p>
          <a:p>
            <a:pPr indent="0" marL="0">
              <a:buNone/>
            </a:pPr>
            <a:r>
              <a:rPr lang="en-US" sz="1200" dirty="0">
                <a:solidFill>
                  <a:schemeClr val="tx2"/>
                </a:solidFill>
              </a:rPr>
              <a:t>Petro Star tarifa normal deja de perder frente al Work Order (campaña 15 + 20 pozos en 0,1–5 km)</a:t>
            </a:r>
            <a:endParaRPr lang="en-US" sz="1400" dirty="0"/>
          </a:p>
        </p:txBody>
      </p:sp>
      <p:sp>
        <p:nvSpPr>
          <p:cNvPr id="8" name="card2"/>
          <p:cNvSpPr/>
          <p:nvPr/>
        </p:nvSpPr>
        <p:spPr>
          <a:xfrm>
            <a:off x="6675120" y="2807208"/>
            <a:ext cx="4937760" cy="1298448"/>
          </a:xfrm>
          <a:prstGeom prst="roundRect">
            <a:avLst>
              <a:gd name="adj" fmla="val 5634"/>
            </a:avLst>
          </a:prstGeom>
          <a:solidFill>
            <a:schemeClr val="bg2"/>
          </a:solidFill>
          <a:ln w="12700">
            <a:solidFill>
              <a:schemeClr val="bg2"/>
            </a:solidFill>
            <a:prstDash val="solid"/>
          </a:ln>
        </p:spPr>
      </p:sp>
      <p:sp>
        <p:nvSpPr>
          <p:cNvPr id="9" name="Text 6"/>
          <p:cNvSpPr txBox="1"/>
          <p:nvPr/>
        </p:nvSpPr>
        <p:spPr>
          <a:xfrm>
            <a:off x="6858000" y="2916936"/>
            <a:ext cx="1737360" cy="105156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 4</a:t>
            </a:r>
            <a:endParaRPr lang="en-US" sz="4000" dirty="0"/>
          </a:p>
        </p:txBody>
      </p:sp>
      <p:sp>
        <p:nvSpPr>
          <p:cNvPr id="10" name="Text 7"/>
          <p:cNvSpPr txBox="1"/>
          <p:nvPr/>
        </p:nvSpPr>
        <p:spPr>
          <a:xfrm>
            <a:off x="8686800" y="2916936"/>
            <a:ext cx="2788920" cy="1078992"/>
          </a:xfrm>
          <a:prstGeom prst="rect">
            <a:avLst/>
          </a:prstGeom>
          <a:noFill/>
          <a:ln/>
        </p:spPr>
        <p:txBody>
          <a:bodyPr wrap="square" lIns="0" tIns="0" rIns="0" bIns="0" rtlCol="0" anchor="ctr"/>
          <a:lstStyle/>
          <a:p>
            <a:pPr indent="0" marL="0">
              <a:buNone/>
            </a:pPr>
            <a:r>
              <a:rPr lang="en-US" sz="1400" b="1" dirty="0">
                <a:solidFill>
                  <a:schemeClr val="tx1"/>
                </a:solidFill>
              </a:rPr>
              <a:t>movilizaciones todos los meses</a:t>
            </a:r>
            <a:endParaRPr lang="en-US" sz="1400" dirty="0"/>
          </a:p>
          <a:p>
            <a:pPr indent="0" marL="0">
              <a:buNone/>
            </a:pPr>
            <a:r>
              <a:rPr lang="en-US" sz="1200" dirty="0">
                <a:solidFill>
                  <a:schemeClr val="tx2"/>
                </a:solidFill>
              </a:rPr>
              <a:t>Ecotransur deja de perder frente al Work Order (misma campaña)</a:t>
            </a:r>
            <a:endParaRPr lang="en-US" sz="1400" dirty="0"/>
          </a:p>
        </p:txBody>
      </p:sp>
      <p:sp>
        <p:nvSpPr>
          <p:cNvPr id="11" name="card3"/>
          <p:cNvSpPr/>
          <p:nvPr/>
        </p:nvSpPr>
        <p:spPr>
          <a:xfrm>
            <a:off x="6675120" y="4288536"/>
            <a:ext cx="4937760" cy="1298448"/>
          </a:xfrm>
          <a:prstGeom prst="roundRect">
            <a:avLst>
              <a:gd name="adj" fmla="val 5634"/>
            </a:avLst>
          </a:prstGeom>
          <a:solidFill>
            <a:schemeClr val="bg2"/>
          </a:solidFill>
          <a:ln w="12700">
            <a:solidFill>
              <a:schemeClr val="bg2"/>
            </a:solidFill>
            <a:prstDash val="solid"/>
          </a:ln>
        </p:spPr>
      </p:sp>
      <p:sp>
        <p:nvSpPr>
          <p:cNvPr id="12" name="Text 9"/>
          <p:cNvSpPr txBox="1"/>
          <p:nvPr/>
        </p:nvSpPr>
        <p:spPr>
          <a:xfrm>
            <a:off x="6858000" y="4398264"/>
            <a:ext cx="1737360" cy="1051560"/>
          </a:xfrm>
          <a:prstGeom prst="rect">
            <a:avLst/>
          </a:prstGeom>
          <a:noFill/>
          <a:ln/>
        </p:spPr>
        <p:txBody>
          <a:bodyPr wrap="square" lIns="0" tIns="0" rIns="0" bIns="0" rtlCol="0" anchor="ctr"/>
          <a:lstStyle/>
          <a:p>
            <a:pPr indent="0" marL="0">
              <a:buNone/>
            </a:pPr>
            <a:r>
              <a:rPr lang="en-US" sz="2600" b="1" dirty="0">
                <a:solidFill>
                  <a:schemeClr val="accent5"/>
                </a:solidFill>
                <a:latin typeface="Cambria" pitchFamily="34" charset="0"/>
                <a:ea typeface="Cambria" pitchFamily="34" charset="-122"/>
                <a:cs typeface="Cambria" pitchFamily="34" charset="-120"/>
              </a:rPr>
              <a:t>No cruza</a:t>
            </a:r>
            <a:endParaRPr lang="en-US" sz="2600" dirty="0"/>
          </a:p>
        </p:txBody>
      </p:sp>
      <p:sp>
        <p:nvSpPr>
          <p:cNvPr id="13" name="Text 10"/>
          <p:cNvSpPr txBox="1"/>
          <p:nvPr/>
        </p:nvSpPr>
        <p:spPr>
          <a:xfrm>
            <a:off x="8686800" y="4398264"/>
            <a:ext cx="2788920" cy="1078992"/>
          </a:xfrm>
          <a:prstGeom prst="rect">
            <a:avLst/>
          </a:prstGeom>
          <a:noFill/>
          <a:ln/>
        </p:spPr>
        <p:txBody>
          <a:bodyPr wrap="square" lIns="0" tIns="0" rIns="0" bIns="0" rtlCol="0" anchor="ctr"/>
          <a:lstStyle/>
          <a:p>
            <a:pPr indent="0" marL="0">
              <a:buNone/>
            </a:pPr>
            <a:r>
              <a:rPr lang="en-US" sz="1400" b="1" dirty="0">
                <a:solidFill>
                  <a:schemeClr val="tx1"/>
                </a:solidFill>
              </a:rPr>
              <a:t>en ninguna frecuencia</a:t>
            </a:r>
            <a:endParaRPr lang="en-US" sz="1400" dirty="0"/>
          </a:p>
          <a:p>
            <a:pPr indent="0" marL="0">
              <a:buNone/>
            </a:pPr>
            <a:r>
              <a:rPr lang="en-US" sz="1200" dirty="0">
                <a:solidFill>
                  <a:schemeClr val="tx2"/>
                </a:solidFill>
              </a:rPr>
              <a:t>Petro Star Lump Sum sin descuento: solo cruza con pozos en la misma localización</a:t>
            </a:r>
            <a:endParaRPr lang="en-US" sz="1400" dirty="0"/>
          </a:p>
        </p:txBody>
      </p:sp>
      <p:sp>
        <p:nvSpPr>
          <p:cNvPr id="14" name="Text 11"/>
          <p:cNvSpPr txBox="1"/>
          <p:nvPr/>
        </p:nvSpPr>
        <p:spPr>
          <a:xfrm>
            <a:off x="6675120" y="5833872"/>
            <a:ext cx="4937760" cy="457200"/>
          </a:xfrm>
          <a:prstGeom prst="rect">
            <a:avLst/>
          </a:prstGeom>
          <a:noFill/>
          <a:ln/>
        </p:spPr>
        <p:txBody>
          <a:bodyPr wrap="square" lIns="0" tIns="0" rIns="0" bIns="0" rtlCol="0" anchor="ctr"/>
          <a:lstStyle/>
          <a:p>
            <a:pPr indent="0" marL="0">
              <a:buNone/>
            </a:pPr>
            <a:r>
              <a:rPr lang="en-US" sz="1100" i="1" dirty="0">
                <a:solidFill>
                  <a:schemeClr val="tx2"/>
                </a:solidFill>
              </a:rPr>
              <a:t>Evidencia de frecuencia (logs): 2024 tuvo 6 o más movilizaciones en 9 de 11 meses; 2025, en 4 de 9 meses, con meses de 1, 3 y 4.</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t"/>
          <a:lstStyle/>
          <a:p>
            <a:pPr algn="l" indent="0" marL="0">
              <a:buNone/>
            </a:pPr>
            <a:r>
              <a:rPr lang="en-US" sz="2400" b="1" dirty="0">
                <a:solidFill>
                  <a:schemeClr val="tx1"/>
                </a:solidFill>
              </a:rPr>
              <a:t>El tercerizado suma taladro y cargo fijo; a cambio descuenta desde la 6ª</a:t>
            </a:r>
            <a:endParaRPr lang="en-US" sz="2400" dirty="0"/>
          </a:p>
        </p:txBody>
      </p:sp>
      <p:graphicFrame>
        <p:nvGraphicFramePr>
          <p:cNvPr id="3"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card4"/>
          <p:cNvSpPr/>
          <p:nvPr/>
        </p:nvSpPr>
        <p:spPr>
          <a:xfrm>
            <a:off x="7680960" y="1280160"/>
            <a:ext cx="3931920" cy="4937760"/>
          </a:xfrm>
          <a:prstGeom prst="roundRect">
            <a:avLst>
              <a:gd name="adj" fmla="val 1860"/>
            </a:avLst>
          </a:prstGeom>
          <a:solidFill>
            <a:schemeClr val="bg2"/>
          </a:solidFill>
          <a:ln w="12700">
            <a:solidFill>
              <a:schemeClr val="bg2"/>
            </a:solidFill>
            <a:prstDash val="solid"/>
          </a:ln>
        </p:spPr>
      </p:sp>
      <p:sp>
        <p:nvSpPr>
          <p:cNvPr id="5" name="Text 2"/>
          <p:cNvSpPr txBox="1"/>
          <p:nvPr/>
        </p:nvSpPr>
        <p:spPr>
          <a:xfrm>
            <a:off x="7863840" y="1417320"/>
            <a:ext cx="3566160" cy="548640"/>
          </a:xfrm>
          <a:prstGeom prst="rect">
            <a:avLst/>
          </a:prstGeom>
          <a:noFill/>
          <a:ln/>
        </p:spPr>
        <p:txBody>
          <a:bodyPr wrap="square" lIns="0" tIns="0" rIns="0" bIns="0" rtlCol="0" anchor="ctr"/>
          <a:lstStyle/>
          <a:p>
            <a:pPr indent="0" marL="0">
              <a:buNone/>
            </a:pPr>
            <a:r>
              <a:rPr lang="en-US" sz="1400" b="1" dirty="0">
                <a:solidFill>
                  <a:schemeClr val="tx1"/>
                </a:solidFill>
              </a:rPr>
              <a:t>Cargo fijo mensual si el mes no llega al mínimo (USD)</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863840" y="2011680"/>
          <a:ext cx="3566160" cy="914400"/>
        </p:xfrm>
        <a:graphic>
          <a:graphicData uri="http://schemas.openxmlformats.org/drawingml/2006/table">
            <a:tbl>
              <a:tblPr/>
              <a:tblGrid>
                <a:gridCol w="1188720"/>
                <a:gridCol w="1188720"/>
                <a:gridCol w="1188720"/>
              </a:tblGrid>
              <a:tr h="310896">
                <a:tc>
                  <a:txBody>
                    <a:bodyPr/>
                    <a:lstStyle/>
                    <a:p>
                      <a:pPr indent="0" marL="0">
                        <a:buNone/>
                      </a:pPr>
                      <a:r>
                        <a:rPr lang="en-US" sz="1200" b="1" dirty="0">
                          <a:solidFill>
                            <a:srgbClr val="1F2A36"/>
                          </a:solidFill>
                          <a:latin typeface="Calibri" pitchFamily="34" charset="0"/>
                          <a:ea typeface="Calibri" pitchFamily="34" charset="-122"/>
                          <a:cs typeface="Calibri" pitchFamily="34" charset="-120"/>
                        </a:rPr>
                        <a:t>Movs en el mes</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b="1" dirty="0">
                          <a:solidFill>
                            <a:srgbClr val="1F2A36"/>
                          </a:solidFill>
                          <a:latin typeface="Calibri" pitchFamily="34" charset="0"/>
                          <a:ea typeface="Calibri" pitchFamily="34" charset="-122"/>
                          <a:cs typeface="Calibri" pitchFamily="34" charset="-120"/>
                        </a:rPr>
                        <a:t>Petro Star</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b="1" dirty="0">
                          <a:solidFill>
                            <a:srgbClr val="1F2A36"/>
                          </a:solidFill>
                          <a:latin typeface="Calibri" pitchFamily="34" charset="0"/>
                          <a:ea typeface="Calibri" pitchFamily="34" charset="-122"/>
                          <a:cs typeface="Calibri" pitchFamily="34" charset="-120"/>
                        </a:rPr>
                        <a:t>Ecotransur</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$133.751</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$181.054</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$95.139</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$135.791</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$69.758</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$90.527</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$56.465</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$45.264</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$40.953</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1F2A36"/>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7" name="Text 3"/>
          <p:cNvSpPr txBox="1"/>
          <p:nvPr/>
        </p:nvSpPr>
        <p:spPr>
          <a:xfrm>
            <a:off x="7863840" y="4251960"/>
            <a:ext cx="3566160" cy="1737360"/>
          </a:xfrm>
          <a:prstGeom prst="rect">
            <a:avLst/>
          </a:prstGeom>
          <a:noFill/>
          <a:ln/>
        </p:spPr>
        <p:txBody>
          <a:bodyPr wrap="square" lIns="0" tIns="0" rIns="0" bIns="0" rtlCol="0" anchor="t"/>
          <a:lstStyle/>
          <a:p>
            <a:pPr indent="0" marL="0">
              <a:buNone/>
            </a:pPr>
            <a:r>
              <a:rPr lang="en-US" sz="1200" b="1" dirty="0">
                <a:solidFill>
                  <a:schemeClr val="tx2"/>
                </a:solidFill>
              </a:rPr>
              <a:t>Lo que no se ve en la barra: </a:t>
            </a:r>
            <a:pPr indent="0" marL="0">
              <a:buNone/>
            </a:pPr>
            <a:r>
              <a:rPr lang="en-US" sz="1200" dirty="0">
                <a:solidFill>
                  <a:schemeClr val="tx2"/>
                </a:solidFill>
              </a:rPr>
              <a:t>el Work Order es igual en cualquier mes; el tercerizado suma este cargo mientras el mes no llegue a 5 (Ecotransur) o a 6 (Petro Star). Lump Sum: sin descuento en la evaluación principal.</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t"/>
          <a:lstStyle/>
          <a:p>
            <a:pPr algn="l" indent="0" marL="0">
              <a:buNone/>
            </a:pPr>
            <a:r>
              <a:rPr lang="en-US" sz="2400" b="1" dirty="0">
                <a:solidFill>
                  <a:schemeClr val="tx1"/>
                </a:solidFill>
              </a:rPr>
              <a:t>La frontera está entre 4 y 5 movilizaciones por mes, sostenidas</a:t>
            </a:r>
            <a:endParaRPr lang="en-US" sz="2400" dirty="0"/>
          </a:p>
        </p:txBody>
      </p:sp>
      <p:graphicFrame>
        <p:nvGraphicFramePr>
          <p:cNvPr id="3"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card5"/>
          <p:cNvSpPr/>
          <p:nvPr/>
        </p:nvSpPr>
        <p:spPr>
          <a:xfrm>
            <a:off x="7680960" y="1280160"/>
            <a:ext cx="3931920" cy="4937760"/>
          </a:xfrm>
          <a:prstGeom prst="roundRect">
            <a:avLst>
              <a:gd name="adj" fmla="val 1860"/>
            </a:avLst>
          </a:prstGeom>
          <a:solidFill>
            <a:schemeClr val="bg2"/>
          </a:solidFill>
          <a:ln w="12700">
            <a:solidFill>
              <a:schemeClr val="bg2"/>
            </a:solidFill>
            <a:prstDash val="solid"/>
          </a:ln>
        </p:spPr>
      </p:sp>
      <p:sp>
        <p:nvSpPr>
          <p:cNvPr id="5" name="Text 2"/>
          <p:cNvSpPr txBox="1"/>
          <p:nvPr/>
        </p:nvSpPr>
        <p:spPr>
          <a:xfrm>
            <a:off x="7863840" y="1417320"/>
            <a:ext cx="3566160" cy="548640"/>
          </a:xfrm>
          <a:prstGeom prst="rect">
            <a:avLst/>
          </a:prstGeom>
          <a:noFill/>
          <a:ln/>
        </p:spPr>
        <p:txBody>
          <a:bodyPr wrap="square" lIns="0" tIns="0" rIns="0" bIns="0" rtlCol="0" anchor="ctr"/>
          <a:lstStyle/>
          <a:p>
            <a:pPr indent="0" marL="0">
              <a:buNone/>
            </a:pPr>
            <a:r>
              <a:rPr lang="en-US" sz="1400" b="1" dirty="0">
                <a:solidFill>
                  <a:schemeClr val="tx1"/>
                </a:solidFill>
              </a:rPr>
              <a:t>Repetición de las campañas reales con cada modelo</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863840" y="2011680"/>
          <a:ext cx="3566160" cy="914400"/>
        </p:xfrm>
        <a:graphic>
          <a:graphicData uri="http://schemas.openxmlformats.org/drawingml/2006/table">
            <a:tbl>
              <a:tblPr/>
              <a:tblGrid>
                <a:gridCol w="1554480"/>
                <a:gridCol w="1005840"/>
                <a:gridCol w="1005840"/>
              </a:tblGrid>
              <a:tr h="310896">
                <a:tc>
                  <a:txBody>
                    <a:bodyPr/>
                    <a:lstStyle/>
                    <a:p>
                      <a:pPr indent="0" marL="0">
                        <a:buNone/>
                      </a:pPr>
                      <a:r>
                        <a:rPr lang="en-US" sz="1200" b="1" dirty="0">
                          <a:solidFill>
                            <a:srgbClr val="1F2A36"/>
                          </a:solidFill>
                          <a:latin typeface="Calibri" pitchFamily="34" charset="0"/>
                          <a:ea typeface="Calibri" pitchFamily="34" charset="-122"/>
                          <a:cs typeface="Calibri" pitchFamily="34" charset="-120"/>
                        </a:rPr>
                        <a:t>Ahorro vs WO (USD)</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b="1" dirty="0">
                          <a:solidFill>
                            <a:srgbClr val="1F2A36"/>
                          </a:solidFill>
                          <a:latin typeface="Calibri" pitchFamily="34" charset="0"/>
                          <a:ea typeface="Calibri" pitchFamily="34" charset="-122"/>
                          <a:cs typeface="Calibri" pitchFamily="34" charset="-120"/>
                        </a:rPr>
                        <a:t>2024</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b="1" dirty="0">
                          <a:solidFill>
                            <a:srgbClr val="1F2A36"/>
                          </a:solidFill>
                          <a:latin typeface="Calibri" pitchFamily="34" charset="0"/>
                          <a:ea typeface="Calibri" pitchFamily="34" charset="-122"/>
                          <a:cs typeface="Calibri" pitchFamily="34" charset="-120"/>
                        </a:rPr>
                        <a:t>2025</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Petro Star normal</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2E7D5B"/>
                          </a:solidFill>
                          <a:latin typeface="Calibri" pitchFamily="34" charset="0"/>
                          <a:ea typeface="Calibri" pitchFamily="34" charset="-122"/>
                          <a:cs typeface="Calibri" pitchFamily="34" charset="-120"/>
                        </a:rPr>
                        <a:t>+1,03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2E7D5B"/>
                          </a:solidFill>
                          <a:latin typeface="Calibri" pitchFamily="34" charset="0"/>
                          <a:ea typeface="Calibri" pitchFamily="34" charset="-122"/>
                          <a:cs typeface="Calibri" pitchFamily="34" charset="-120"/>
                        </a:rPr>
                        <a:t>+0,19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Ecotransur</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2E7D5B"/>
                          </a:solidFill>
                          <a:latin typeface="Calibri" pitchFamily="34" charset="0"/>
                          <a:ea typeface="Calibri" pitchFamily="34" charset="-122"/>
                          <a:cs typeface="Calibri" pitchFamily="34" charset="-120"/>
                        </a:rPr>
                        <a:t>+0,90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2E7D5B"/>
                          </a:solidFill>
                          <a:latin typeface="Calibri" pitchFamily="34" charset="0"/>
                          <a:ea typeface="Calibri" pitchFamily="34" charset="-122"/>
                          <a:cs typeface="Calibri" pitchFamily="34" charset="-120"/>
                        </a:rPr>
                        <a:t>+0,18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10896">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Lump Sum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−1,07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−1,19 M</a:t>
                      </a:r>
                      <a:endParaRPr lang="en-US" sz="1200" dirty="0">
                        <a:latin typeface="Calibri" charset="0"/>
                        <a:ea typeface="Calibri" charset="0"/>
                        <a:cs typeface="Calibri" charset="0"/>
                      </a:endParaRPr>
                    </a:p>
                  </a:txBody>
                  <a:tcPr marL="91440" marR="91440" marT="45720" marB="45720">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7" name="Text 3"/>
          <p:cNvSpPr txBox="1"/>
          <p:nvPr/>
        </p:nvSpPr>
        <p:spPr>
          <a:xfrm>
            <a:off x="7863840" y="3429000"/>
            <a:ext cx="3566160" cy="2651760"/>
          </a:xfrm>
          <a:prstGeom prst="rect">
            <a:avLst/>
          </a:prstGeom>
          <a:noFill/>
          <a:ln/>
        </p:spPr>
        <p:txBody>
          <a:bodyPr wrap="square" lIns="0" tIns="0" rIns="0" bIns="0" rtlCol="0" anchor="t"/>
          <a:lstStyle/>
          <a:p>
            <a:pPr indent="0" marL="0">
              <a:spcAft>
                <a:spcPts val="600"/>
              </a:spcAft>
              <a:buNone/>
            </a:pPr>
            <a:r>
              <a:rPr lang="en-US" sz="1200" dirty="0">
                <a:solidFill>
                  <a:schemeClr val="tx2"/>
                </a:solidFill>
              </a:rPr>
              <a:t>2024: 70 movilizaciones, 6,4 por mes activo. 2025: 45, 5,0 por mes activo.</a:t>
            </a:r>
            <a:endParaRPr lang="en-US" sz="1200" dirty="0"/>
          </a:p>
          <a:p>
            <a:pPr indent="0" marL="0">
              <a:spcAft>
                <a:spcPts val="600"/>
              </a:spcAft>
              <a:buNone/>
            </a:pPr>
            <a:r>
              <a:rPr lang="en-US" sz="1200" b="1" dirty="0">
                <a:solidFill>
                  <a:schemeClr val="tx1"/>
                </a:solidFill>
              </a:rPr>
              <a:t>En 2025 los meses de 1, 3 y 4 movilizaciones se comieron casi todo lo que ganaron los meses de 6 y 7.</a:t>
            </a:r>
            <a:endParaRPr lang="en-US" sz="1200" dirty="0"/>
          </a:p>
          <a:p>
            <a:pPr indent="0" marL="0">
              <a:buNone/>
            </a:pPr>
            <a:r>
              <a:rPr lang="en-US" sz="1200" dirty="0">
                <a:solidFill>
                  <a:schemeClr val="tx2"/>
                </a:solidFill>
              </a:rPr>
              <a:t>Con horas reales del log: 2024 mejora y 2025 empeora (más horas de taladro).</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t"/>
          <a:lstStyle/>
          <a:p>
            <a:pPr algn="l" indent="0" marL="0">
              <a:buNone/>
            </a:pPr>
            <a:r>
              <a:rPr lang="en-US" sz="2400" b="1" dirty="0">
                <a:solidFill>
                  <a:schemeClr val="tx1"/>
                </a:solidFill>
              </a:rPr>
              <a:t>Faltan siete datos y casi todos restan ventaja al tercerizado</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315200" cy="914400"/>
        </p:xfrm>
        <a:graphic>
          <a:graphicData uri="http://schemas.openxmlformats.org/drawingml/2006/table">
            <a:tbl>
              <a:tblPr/>
              <a:tblGrid>
                <a:gridCol w="3108960"/>
                <a:gridCol w="1737360"/>
                <a:gridCol w="1371600"/>
                <a:gridCol w="1097280"/>
              </a:tblGrid>
              <a:tr h="384048">
                <a:tc>
                  <a:txBody>
                    <a:bodyPr/>
                    <a:lstStyle/>
                    <a:p>
                      <a:pPr indent="0" marL="0">
                        <a:buNone/>
                      </a:pPr>
                      <a:r>
                        <a:rPr lang="en-US" sz="1200" b="1" dirty="0">
                          <a:solidFill>
                            <a:srgbClr val="1F2A36"/>
                          </a:solidFill>
                          <a:latin typeface="Calibri" pitchFamily="34" charset="0"/>
                          <a:ea typeface="Calibri" pitchFamily="34" charset="-122"/>
                          <a:cs typeface="Calibri" pitchFamily="34" charset="-120"/>
                        </a:rPr>
                        <a:t>Qué falta confirmar</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b="1" dirty="0">
                          <a:solidFill>
                            <a:srgbClr val="1F2A36"/>
                          </a:solidFill>
                          <a:latin typeface="Calibri" pitchFamily="34" charset="0"/>
                          <a:ea typeface="Calibri" pitchFamily="34" charset="-122"/>
                          <a:cs typeface="Calibri" pitchFamily="34" charset="-120"/>
                        </a:rPr>
                        <a:t>Valor de trabajo</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b="1" dirty="0">
                          <a:solidFill>
                            <a:srgbClr val="1F2A36"/>
                          </a:solidFill>
                          <a:latin typeface="Calibri" pitchFamily="34" charset="0"/>
                          <a:ea typeface="Calibri" pitchFamily="34" charset="-122"/>
                          <a:cs typeface="Calibri" pitchFamily="34" charset="-120"/>
                        </a:rPr>
                        <a:t>En juego (USD)</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b="1" dirty="0">
                          <a:solidFill>
                            <a:srgbClr val="1F2A36"/>
                          </a:solidFill>
                          <a:latin typeface="Calibri" pitchFamily="34" charset="0"/>
                          <a:ea typeface="Calibri" pitchFamily="34" charset="-122"/>
                          <a:cs typeface="Calibri" pitchFamily="34" charset="-120"/>
                        </a:rPr>
                        <a:t>Quién</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Rango real de los 20 pozos fuera de la locación</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0,1–5 km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−0,18 M a −0,43 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SierraCol</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Horas de taladro por movilización (Excel vs Petro Star)</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12/18/24/28 h</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−0,17 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SierraCol</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¿Petro Star normal cobra aparte sus equipos adicionales?</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−0,16 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Petro Star</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Cobro en un mes de campaña parada</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No se cobra</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−0,16 M a −0,23 M c/mes</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Contrato</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Demora no atribuible al transportador (cláusula 7)</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Sin demora</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−2.813 por hora</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Petro Star</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NPT de perforación (baja la frecuencia)</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0 %</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B03A2E"/>
                          </a:solidFill>
                          <a:latin typeface="Calibri" pitchFamily="34" charset="0"/>
                          <a:ea typeface="Calibri" pitchFamily="34" charset="-122"/>
                          <a:cs typeface="Calibri" pitchFamily="34" charset="-120"/>
                        </a:rPr>
                        <a:t>−0,24 M con 20 %</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SierraCol</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384048">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Lump Sum: valores del Excel vs Cot. 1255</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Excel</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r" indent="0" marL="0">
                        <a:buNone/>
                      </a:pPr>
                      <a:r>
                        <a:rPr lang="en-US" sz="1200" dirty="0">
                          <a:solidFill>
                            <a:srgbClr val="2E7D5B"/>
                          </a:solidFill>
                          <a:latin typeface="Calibri" pitchFamily="34" charset="0"/>
                          <a:ea typeface="Calibri" pitchFamily="34" charset="-122"/>
                          <a:cs typeface="Calibri" pitchFamily="34" charset="-120"/>
                        </a:rPr>
                        <a:t>+0,44 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F2A36"/>
                          </a:solidFill>
                          <a:latin typeface="Calibri" pitchFamily="34" charset="0"/>
                          <a:ea typeface="Calibri" pitchFamily="34" charset="-122"/>
                          <a:cs typeface="Calibri" pitchFamily="34" charset="-120"/>
                        </a:rPr>
                        <a:t>SCM</a:t>
                      </a:r>
                      <a:endParaRPr lang="en-US" sz="1200" dirty="0">
                        <a:latin typeface="Calibri" charset="0"/>
                        <a:ea typeface="Calibri" charset="0"/>
                        <a:cs typeface="Calibri" charset="0"/>
                      </a:endParaRPr>
                    </a:p>
                  </a:txBody>
                  <a:tcPr marL="91440" marR="91440" marT="45720" marB="45720"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4" name="card6"/>
          <p:cNvSpPr/>
          <p:nvPr/>
        </p:nvSpPr>
        <p:spPr>
          <a:xfrm>
            <a:off x="8229600" y="1280160"/>
            <a:ext cx="3383280" cy="3246120"/>
          </a:xfrm>
          <a:prstGeom prst="roundRect">
            <a:avLst>
              <a:gd name="adj" fmla="val 2254"/>
            </a:avLst>
          </a:prstGeom>
          <a:solidFill>
            <a:srgbClr val="1F2A36"/>
          </a:solidFill>
          <a:ln w="12700">
            <a:solidFill>
              <a:srgbClr val="1F2A36"/>
            </a:solidFill>
            <a:prstDash val="solid"/>
          </a:ln>
        </p:spPr>
      </p:sp>
      <p:sp>
        <p:nvSpPr>
          <p:cNvPr id="5" name="Text 2"/>
          <p:cNvSpPr txBox="1"/>
          <p:nvPr/>
        </p:nvSpPr>
        <p:spPr>
          <a:xfrm>
            <a:off x="8412480" y="1463040"/>
            <a:ext cx="3017520" cy="292608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Lectura</a:t>
            </a:r>
            <a:endParaRPr lang="en-US" sz="1600" dirty="0"/>
          </a:p>
          <a:p>
            <a:pPr indent="0" marL="0">
              <a:buNone/>
            </a:pPr>
            <a:r>
              <a:rPr lang="en-US" sz="1300" dirty="0">
                <a:solidFill>
                  <a:schemeClr val="bg1"/>
                </a:solidFill>
              </a:rPr>
              <a:t>Seis de los siete pendientes, si se confirman en contra, reducen la ventaja del tercerizado; solo la diferencia de precios del Lump Sum la aumenta. Los valores de trabajo quedaron del lado favorable al tercerizado. Antes de cambiar el contrato hay que confirmar la frecuencia mensual esperada y el rango real de los pozos: son los dos datos que mueven la frontera.</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l"/>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Movilizacion GRS110">
  <a:themeElements>
    <a:clrScheme name="Movilizacion GRS110">
      <a:dk1>
        <a:srgbClr val="1F2A36"/>
      </a:dk1>
      <a:lt1>
        <a:srgbClr val="FFFFFF"/>
      </a:lt1>
      <a:dk2>
        <a:srgbClr val="3B4754"/>
      </a:dk2>
      <a:lt2>
        <a:srgbClr val="EEF1F4"/>
      </a:lt2>
      <a:accent1>
        <a:srgbClr val="C8860A"/>
      </a:accent1>
      <a:accent2>
        <a:srgbClr val="1F2A36"/>
      </a:accent2>
      <a:accent3>
        <a:srgbClr val="7A8A99"/>
      </a:accent3>
      <a:accent4>
        <a:srgbClr val="2E7D5B"/>
      </a:accent4>
      <a:accent5>
        <a:srgbClr val="B03A2E"/>
      </a:accent5>
      <a:accent6>
        <a:srgbClr val="A9B4BF"/>
      </a:accent6>
      <a:hlink>
        <a:srgbClr val="1F6FB2"/>
      </a:hlink>
      <a:folHlink>
        <a:srgbClr val="6B4E9B"/>
      </a:folHlink>
    </a:clrScheme>
    <a:fontScheme name="Movilizacion GRS110">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Movilización GRS 110: Work Order vs tercerizado</dc:title>
  <dc:subject>PptxGenJS Presentation</dc:subject>
  <dc:creator>PptxGenJS</dc:creator>
  <cp:lastModifiedBy>PptxGenJS</cp:lastModifiedBy>
  <cp:revision>1</cp:revision>
  <dcterms:created xsi:type="dcterms:W3CDTF">2026-10-12T15:29:37Z</dcterms:created>
  <dcterms:modified xsi:type="dcterms:W3CDTF">2026-10-12T15:29:37Z</dcterms:modified>
</cp:coreProperties>
</file>