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isión" id="{cf5aa66f-bb9f-e6b7-9f49-55eb3fdd67ef}">
          <p14:sldIdLst>
            <p14:sldId id="256"/>
          </p14:sldIdLst>
        </p14:section>
        <p14:section name="Estructura de costo" id="{fed18006-a86b-04cc-7b5c-943aa119ced4}">
          <p14:sldIdLst>
            <p14:sldId id="257"/>
          </p14:sldIdLst>
        </p14:section>
        <p14:section name="Frontera" id="{03e042d4-8076-3333-4f00-08344c50575e}">
          <p14:sldIdLst>
            <p14:sldId id="258"/>
          </p14:sldIdLst>
        </p14:section>
        <p14:section name="Pendientes" id="{79cfa555-aad9-0fab-2a2e-45251ea4ef29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F2A36"/>
                </a:solidFill>
                <a:latin typeface="+mn-lt"/>
              </a:rPr>
              <a:t>Meses según cuántas movilizaciones tuvieron (logs)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D6B7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a 3</c:v>
                  </c:pt>
                  <c:pt idx="1">
                    <c:v>4</c:v>
                  </c:pt>
                  <c:pt idx="2">
                    <c:v>5</c:v>
                  </c:pt>
                  <c:pt idx="3">
                    <c:v>6 o más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5D6B7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Costo de una movilización de 0,1–5 km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Tarifa (WO o transportador)</c:v>
                </c:pt>
              </c:strCache>
            </c:strRef>
          </c:tx>
          <c:spPr>
            <a:solidFill>
              <a:srgbClr val="1F2A3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98663</c:v>
                </c:pt>
                <c:pt idx="1">
                  <c:v>59690</c:v>
                </c:pt>
                <c:pt idx="2">
                  <c:v>29845</c:v>
                </c:pt>
                <c:pt idx="3">
                  <c:v>56136</c:v>
                </c:pt>
                <c:pt idx="4">
                  <c:v>33292</c:v>
                </c:pt>
                <c:pt idx="5">
                  <c:v>82239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Señalizadoras faltantes (WO)</c:v>
                </c:pt>
              </c:strCache>
            </c:strRef>
          </c:tx>
          <c:spPr>
            <a:solidFill>
              <a:srgbClr val="B03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811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Taladro 18 h × 1.456 USD/h</c:v>
                </c:pt>
              </c:strCache>
            </c:strRef>
          </c:tx>
          <c:spPr>
            <a:solidFill>
              <a:srgbClr val="C886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26208</c:v>
                </c:pt>
                <c:pt idx="2">
                  <c:v>26208</c:v>
                </c:pt>
                <c:pt idx="3">
                  <c:v>26208</c:v>
                </c:pt>
                <c:pt idx="4">
                  <c:v>26208</c:v>
                </c:pt>
                <c:pt idx="5">
                  <c:v>26208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Truck Manager</c:v>
                </c:pt>
              </c:strCache>
            </c:strRef>
          </c:tx>
          <c:spPr>
            <a:solidFill>
              <a:srgbClr val="A9B4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Work Order</c:v>
                  </c:pt>
                  <c:pt idx="1">
                    <c:v>Petro Star 1ª–5ª</c:v>
                  </c:pt>
                  <c:pt idx="2">
                    <c:v>Petro Star 6ª+</c:v>
                  </c:pt>
                  <c:pt idx="3">
                    <c:v>Ecotransur 1ª–5ª</c:v>
                  </c:pt>
                  <c:pt idx="4">
                    <c:v>Ecotransur 6ª+</c:v>
                  </c:pt>
                  <c:pt idx="5">
                    <c:v>Lump Sum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</c:v>
                </c:pt>
                <c:pt idx="1">
                  <c:v>2703</c:v>
                </c:pt>
                <c:pt idx="2">
                  <c:v>2703</c:v>
                </c:pt>
                <c:pt idx="3">
                  <c:v>2703</c:v>
                </c:pt>
                <c:pt idx="4">
                  <c:v>2703</c:v>
                </c:pt>
                <c:pt idx="5">
                  <c:v>2703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36"/>
                </a:solidFill>
                <a:latin typeface="+mn-lt"/>
              </a:rPr>
              <a:t>Ahorro de la campaña 15 + 20 pozos frente al Work Order (USD; + = tercerizado más barato)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Petro Star tarifa normal</c:v>
                </c:pt>
              </c:strCache>
            </c:strRef>
          </c:tx>
          <c:spPr>
            <a:solidFill>
              <a:srgbClr val="C8860A"/>
            </a:solidFill>
            <a:ln w="31750" cap="flat">
              <a:solidFill>
                <a:srgbClr val="C886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8860A"/>
              </a:solidFill>
              <a:ln w="9525" cap="flat">
                <a:solidFill>
                  <a:srgbClr val="C886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-83725.53918918828</c:v>
                </c:pt>
                <c:pt idx="1">
                  <c:v>32570.32216216298</c:v>
                </c:pt>
                <c:pt idx="2">
                  <c:v>151086.61027027108</c:v>
                </c:pt>
                <c:pt idx="3">
                  <c:v>298418.6017567576</c:v>
                </c:pt>
                <c:pt idx="4">
                  <c:v>524278.8840540545</c:v>
                </c:pt>
                <c:pt idx="5">
                  <c:v>544289.827702703</c:v>
                </c:pt>
                <c:pt idx="6">
                  <c:v>681834.4614864872</c:v>
                </c:pt>
                <c:pt idx="7">
                  <c:v>682640.8786486494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Ecotransur</c:v>
                </c:pt>
              </c:strCache>
            </c:strRef>
          </c:tx>
          <c:spPr>
            <a:solidFill>
              <a:srgbClr val="2E7D5B"/>
            </a:solidFill>
            <a:ln w="31750" cap="flat">
              <a:solidFill>
                <a:srgbClr val="2E7D5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5B"/>
              </a:solidFill>
              <a:ln w="9525" cap="flat">
                <a:solidFill>
                  <a:srgbClr val="2E7D5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56818.85135135101</c:v>
                </c:pt>
                <c:pt idx="1">
                  <c:v>283136.37432432454</c:v>
                </c:pt>
                <c:pt idx="2">
                  <c:v>509453.89729729807</c:v>
                </c:pt>
                <c:pt idx="3">
                  <c:v>423960.41216216283</c:v>
                </c:pt>
                <c:pt idx="4">
                  <c:v>587203.9000000013</c:v>
                </c:pt>
                <c:pt idx="5">
                  <c:v>524129.86486486625</c:v>
                </c:pt>
                <c:pt idx="6">
                  <c:v>646718.7675675689</c:v>
                </c:pt>
                <c:pt idx="7">
                  <c:v>620115.0027027032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Petro Star Lump Sum (sin descuento)</c:v>
                </c:pt>
              </c:strCache>
            </c:strRef>
          </c:tx>
          <c:spPr>
            <a:solidFill>
              <a:srgbClr val="7A8A99"/>
            </a:solidFill>
            <a:ln w="31750" cap="flat">
              <a:solidFill>
                <a:srgbClr val="7A8A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A8A99"/>
              </a:solidFill>
              <a:ln w="9525" cap="flat">
                <a:solidFill>
                  <a:srgbClr val="7A8A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4</c:v>
                  </c:pt>
                  <c:pt idx="1">
                    <c:v>4,5</c:v>
                  </c:pt>
                  <c:pt idx="2">
                    <c:v>5</c:v>
                  </c:pt>
                  <c:pt idx="3">
                    <c:v>5,5</c:v>
                  </c:pt>
                  <c:pt idx="4">
                    <c:v>6</c:v>
                  </c:pt>
                  <c:pt idx="5">
                    <c:v>6,5</c:v>
                  </c:pt>
                  <c:pt idx="6">
                    <c:v>7</c:v>
                  </c:pt>
                  <c:pt idx="7">
                    <c:v>8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-688673.8581081079</c:v>
                </c:pt>
                <c:pt idx="1">
                  <c:v>-572377.9967567567</c:v>
                </c:pt>
                <c:pt idx="2">
                  <c:v>-453861.7086486486</c:v>
                </c:pt>
                <c:pt idx="3">
                  <c:v>-385190.7454054053</c:v>
                </c:pt>
                <c:pt idx="4">
                  <c:v>-208146.47999999998</c:v>
                </c:pt>
                <c:pt idx="5">
                  <c:v>-236951.55324324314</c:v>
                </c:pt>
                <c:pt idx="6">
                  <c:v>-167193.94189189188</c:v>
                </c:pt>
                <c:pt idx="7">
                  <c:v>-236951.55324324314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D6B7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D6B78"/>
                    </a:solidFill>
                    <a:latin typeface="Arial"/>
                  </a:rPr>
                  <a:t>Movilizaciones por mes (esperado: 5 a 6)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1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D6B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Frontera calculada con el simulador (hoja Simulador, sección 6, y campaña con frecuencia constante). Los umbrales salen de Cot. 1255 p. 2 y p. 4 y de la carta de Ecotransur p. 2–4.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Fuente: Simulador filas 51 y 53–67; cargo fijo Cot. 1255 p. 4 y Ecotransur p. 2–3 a TRM 3.700. Ecotransur 6ª+ = solo equipos (p. 3–4).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Gráfico: hoja Sensibilidad, sección 1 (horas del Excel). Los dientes vienen del último mes de la campaña, que queda corto y vuelve a pagar cargo fijo. Tabla: hoja Sensibilidad, sección 3, y hojas Real 2024 / Real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Puntos de quiebre: hoja Sensibilidad, sección 2. Pendientes completos con montos: hoja Pendientes. Auditoría de la evaluación previa: Auditoria_Evaluacion_Previa.xlsx.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SierraCol · Movilización del taladro GRS 110 · La Cira Infantas · Evaluación de modelo de contratación (no es adjudicación)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Tercerizar ahorra poco y solo si se sostienen 5–6 movilizaciones y los tiempos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6692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Mantener el Work Order (modelo directo: suma global por movilización, sin horas de taladro) o pasar al modelo tercerizado: SierraCol contrata aparte al transportador y paga además el taladro por hora durante la movilización y un coordinador de transporte (Truck Manager).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Qué no se decide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No se adjudica proveedor ni se declara un ahorro único. Se evalúan tres ofertas: Petro Star tarifa normal, Petro Star precio cerrado (Lump Sum) y Ecotransur.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Por qué la respuesta es una frontera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 Work Order cuesta lo mismo por movilización haya 1 o 9 en el mes. El tercerizado cobra cargo fijo hasta la 4ª o 5ª movilización del mes y descuenta desde la 6ª: el resultado lo decide cuántas movilizaciones caen en cada mes, no el promedio.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4617720"/>
          <a:ext cx="566928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card1"/>
          <p:cNvSpPr/>
          <p:nvPr/>
        </p:nvSpPr>
        <p:spPr>
          <a:xfrm>
            <a:off x="6675120" y="1325880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0" y="1435608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1–3 %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435608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del costo de cada pozo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por pozo con 5–6 movs/mes: Petro Star normal 4–15 k USD, Ecotransur 15–17 k USD (pozo de 500–600 k)</a:t>
            </a:r>
            <a:endParaRPr lang="en-US" sz="1400" dirty="0"/>
          </a:p>
        </p:txBody>
      </p:sp>
      <p:sp>
        <p:nvSpPr>
          <p:cNvPr id="8" name="card2"/>
          <p:cNvSpPr/>
          <p:nvPr/>
        </p:nvSpPr>
        <p:spPr>
          <a:xfrm>
            <a:off x="6675120" y="2807208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2916936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 h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2916936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 más por movilización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sobre el tiempo cotizado borran el ahorro de Petro Star con 5 movs/mes; con 6, unas 5 h (taladro + equipos)</a:t>
            </a:r>
            <a:endParaRPr lang="en-US" sz="1400" dirty="0"/>
          </a:p>
        </p:txBody>
      </p:sp>
      <p:sp>
        <p:nvSpPr>
          <p:cNvPr id="11" name="card3"/>
          <p:cNvSpPr/>
          <p:nvPr/>
        </p:nvSpPr>
        <p:spPr>
          <a:xfrm>
            <a:off x="6675120" y="4288536"/>
            <a:ext cx="4937760" cy="1298448"/>
          </a:xfrm>
          <a:prstGeom prst="roundRect">
            <a:avLst>
              <a:gd name="adj" fmla="val 56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4398264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cruza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398264"/>
            <a:ext cx="2788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 los precios del Excel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Petro Star Lump Sum sin descuento. Con los precios de la cotización 1255 sí cruzaría: pendiente de Compras (SCM)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675120" y="57881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chemeClr val="tx2"/>
                </a:solidFill>
              </a:rPr>
              <a:t>Campaña 15 + 20 pozos (0,1–5 km), 5–6 movs/mes, TRM 3.700 y 17,3 h de bloqueo social medido (OpenWells 2025). Con 4 movs/mes Petro Star pierde. Logs: 2024 tuvo 6 o más en 9 de 11 meses; 2025, en 4 de 9.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tercerizado suma taladro y cargo fijo; a cambio descuenta desde la 6ª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4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Cargo fijo mensual si el mes no llega al mínimo (USD)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Movs en el 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$133.751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$181.054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$135.791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$69.758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$90.527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$56.465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$45.264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425196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Lo que no se ve en la barra: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el Work Order es igual en cualquier mes; el tercerizado suma este cargo mientras el mes no llegue a 5 (Ecotransur) o a 6 (Petro Star). Lump Sum: sin descuento en la evaluación principal.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Entre 5 y 6 movilizaciones por mes está el escalón que más pesa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5"/>
          <p:cNvSpPr/>
          <p:nvPr/>
        </p:nvSpPr>
        <p:spPr>
          <a:xfrm>
            <a:off x="7680960" y="1280160"/>
            <a:ext cx="3931920" cy="493776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63840" y="14173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Ilustración, no resultado: 2024 y 2025 repetidas con horas reales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2011680"/>
          <a:ext cx="3566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= tercerizado más barato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Petro Star 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+1,13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Ecotransur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+0,99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−0,05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 Sum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−0,98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−1,42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863840" y="3429000"/>
            <a:ext cx="3566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Taladro por horas reales y equipos por cada hora sobre el tiempo cotizado.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2025: 15 movilizaciones se pasaron del tiempo (94 h). Con eso el tercerizado habría costado más que el Work Order.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2024 se movió más rápido que lo supuesto en el Excel y el ahorro se mantiene, aun con 10 excesos (66 h).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El margen se pierde con pocas horas de más o un mes sin mover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058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borra el ahorro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5/mes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 · 6/mes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de la campaña (USD)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+0,51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+0,59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Ahorro por pozo (% de un pozo de 550 k)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extra de taladro por movilización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sobre el tiempo cotizado (taladro + equipos)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Días de taladro de demora en toda la campaña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 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bloqueados con contrato vigente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F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Por qué: </a:t>
            </a:r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el Work Order una demora, un bloqueo o un mes sin mover no cuesta nada. En el tercerizado cada hora sobre el tiempo cotizado cuesta unos 2.813 USD (taladro 1.456 + equipos y señalizadores 1.357) y un mes bloqueado paga el cargo fijo completo (Petro Star 161 k, Ecotransur 226 k).</a:t>
            </a:r>
            <a:endParaRPr lang="en-US" sz="1200" dirty="0"/>
          </a:p>
        </p:txBody>
      </p:sp>
      <p:sp>
        <p:nvSpPr>
          <p:cNvPr id="5" name="card6"/>
          <p:cNvSpPr/>
          <p:nvPr/>
        </p:nvSpPr>
        <p:spPr>
          <a:xfrm>
            <a:off x="8229600" y="128016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F2A36"/>
          </a:solidFill>
          <a:ln w="12700">
            <a:solidFill>
              <a:srgbClr val="1F2A3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Falta confirmar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Tabla del Work Order por horas: hoy se compara contra la banda más lenta; si el contratista mueve rápido, el WO cuesta más (+5 % al WO ≈ +0,16 M a favor del tercerizado).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Horas que se pagarán al taladro: con las cotizadas (24 h en 0,1–5 km) el ahorro baja 0,17 M.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Precios del Lump Sum: el Excel está por encima de la cotización 1255 (+0,44 M).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Riesgos no valorados: coordinación de dos contratistas, HSE y daños, disponibilidad, pago en COP.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vilizacion GRS110">
  <a:themeElements>
    <a:clrScheme name="Movilizacion GRS110">
      <a:dk1>
        <a:srgbClr val="1F2A36"/>
      </a:dk1>
      <a:lt1>
        <a:srgbClr val="FFFFFF"/>
      </a:lt1>
      <a:dk2>
        <a:srgbClr val="3B4754"/>
      </a:dk2>
      <a:lt2>
        <a:srgbClr val="EEF1F4"/>
      </a:lt2>
      <a:accent1>
        <a:srgbClr val="C8860A"/>
      </a:accent1>
      <a:accent2>
        <a:srgbClr val="1F2A36"/>
      </a:accent2>
      <a:accent3>
        <a:srgbClr val="7A8A99"/>
      </a:accent3>
      <a:accent4>
        <a:srgbClr val="2E7D5B"/>
      </a:accent4>
      <a:accent5>
        <a:srgbClr val="B03A2E"/>
      </a:accent5>
      <a:accent6>
        <a:srgbClr val="A9B4BF"/>
      </a:accent6>
      <a:hlink>
        <a:srgbClr val="1F6FB2"/>
      </a:hlink>
      <a:folHlink>
        <a:srgbClr val="6B4E9B"/>
      </a:folHlink>
    </a:clrScheme>
    <a:fontScheme name="Movilizacion GRS110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Movilización GRS 110: Work Order vs tercerizado</dc:title>
  <dc:subject>PptxGenJS Presentation</dc:subject>
  <dc:creator>PptxGenJS</dc:creator>
  <cp:lastModifiedBy>PptxGenJS</cp:lastModifiedBy>
  <cp:revision>1</cp:revision>
  <dcterms:created xsi:type="dcterms:W3CDTF">2026-10-12T16:37:03Z</dcterms:created>
  <dcterms:modified xsi:type="dcterms:W3CDTF">2026-10-12T16:37:03Z</dcterms:modified>
</cp:coreProperties>
</file>