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cisión" id="{a1784786-4888-04e2-f8b3-8f12b1961e95}">
          <p14:sldIdLst>
            <p14:sldId id="256"/>
          </p14:sldIdLst>
        </p14:section>
        <p14:section name="Estructura de costo" id="{3646c10c-c8c8-5725-15e5-d6cff9aef1d2}">
          <p14:sldIdLst>
            <p14:sldId id="257"/>
          </p14:sldIdLst>
        </p14:section>
        <p14:section name="Frontera" id="{3876ff8d-7781-0dd3-0e9e-96500e084351}">
          <p14:sldIdLst>
            <p14:sldId id="258"/>
          </p14:sldIdLst>
        </p14:section>
        <p14:section name="Pendientes" id="{4dc3da44-470f-48b5-69c4-a6640d8b1389}">
          <p14:sldIdLst>
            <p14:sldId id="259"/>
          </p14:sldIdLst>
        </p14:section>
        <p14:section name="Recomendación" id="{8bdcaf60-b4a9-d1b3-d736-3df5a5629c3d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A36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2A36"/>
                </a:solidFill>
                <a:latin typeface="+mn-lt"/>
              </a:rPr>
              <a:t>Meses según cuántas movilizaciones tuvieron (logs)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1F2A3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D6B7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a 3</c:v>
                  </c:pt>
                  <c:pt idx="1">
                    <c:v>4</c:v>
                  </c:pt>
                  <c:pt idx="2">
                    <c:v>5</c:v>
                  </c:pt>
                  <c:pt idx="3">
                    <c:v>6 o más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C8860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D6B7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a 3</c:v>
                  </c:pt>
                  <c:pt idx="1">
                    <c:v>4</c:v>
                  </c:pt>
                  <c:pt idx="2">
                    <c:v>5</c:v>
                  </c:pt>
                  <c:pt idx="3">
                    <c:v>6 o más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5D6B7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5D6B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3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A36"/>
                </a:solidFill>
                <a:latin typeface="+mn-lt"/>
              </a:rPr>
              <a:t>Costo de una movilización de 0,1–5 km (USD)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Tarifa (WO o transportador)</c:v>
                </c:pt>
              </c:strCache>
            </c:strRef>
          </c:tx>
          <c:spPr>
            <a:solidFill>
              <a:srgbClr val="1F2A3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98663</c:v>
                </c:pt>
                <c:pt idx="1">
                  <c:v>59690</c:v>
                </c:pt>
                <c:pt idx="2">
                  <c:v>29845</c:v>
                </c:pt>
                <c:pt idx="3">
                  <c:v>56136</c:v>
                </c:pt>
                <c:pt idx="4">
                  <c:v>33292</c:v>
                </c:pt>
                <c:pt idx="5">
                  <c:v>82239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Señalizadoras faltantes (WO)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811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Taladro 18 h × 1.456 USD/h</c:v>
                </c:pt>
              </c:strCache>
            </c:strRef>
          </c:tx>
          <c:spPr>
            <a:solidFill>
              <a:srgbClr val="C8860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26208</c:v>
                </c:pt>
                <c:pt idx="2">
                  <c:v>26208</c:v>
                </c:pt>
                <c:pt idx="3">
                  <c:v>26208</c:v>
                </c:pt>
                <c:pt idx="4">
                  <c:v>26208</c:v>
                </c:pt>
                <c:pt idx="5">
                  <c:v>26208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Truck Manager (60 M COP/mes ÷ 5 movs)</c:v>
                </c:pt>
              </c:strCache>
            </c:strRef>
          </c:tx>
          <c:spPr>
            <a:solidFill>
              <a:srgbClr val="A9B4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</c:v>
                </c:pt>
                <c:pt idx="1">
                  <c:v>3243</c:v>
                </c:pt>
                <c:pt idx="2">
                  <c:v>3243</c:v>
                </c:pt>
                <c:pt idx="3">
                  <c:v>3243</c:v>
                </c:pt>
                <c:pt idx="4">
                  <c:v>3243</c:v>
                </c:pt>
                <c:pt idx="5">
                  <c:v>3243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B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D6B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3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A36"/>
                </a:solidFill>
                <a:latin typeface="+mn-lt"/>
              </a:rPr>
              <a:t>Ahorro de la campaña 15 + 20 pozos frente al Work Order (USD; + = tercerizado más barato)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Petro Star tarifa normal</c:v>
                </c:pt>
              </c:strCache>
            </c:strRef>
          </c:tx>
          <c:spPr>
            <a:solidFill>
              <a:srgbClr val="C8860A"/>
            </a:solidFill>
            <a:ln w="31750" cap="flat">
              <a:solidFill>
                <a:srgbClr val="C8860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8860A"/>
              </a:solidFill>
              <a:ln w="9525" cap="flat">
                <a:solidFill>
                  <a:srgbClr val="C8860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4</c:v>
                  </c:pt>
                  <c:pt idx="1">
                    <c:v>4,5</c:v>
                  </c:pt>
                  <c:pt idx="2">
                    <c:v>5</c:v>
                  </c:pt>
                  <c:pt idx="3">
                    <c:v>5,5</c:v>
                  </c:pt>
                  <c:pt idx="4">
                    <c:v>6</c:v>
                  </c:pt>
                  <c:pt idx="5">
                    <c:v>6,5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-135092.51921921968</c:v>
                </c:pt>
                <c:pt idx="1">
                  <c:v>-2580.4416516521014</c:v>
                </c:pt>
                <c:pt idx="2">
                  <c:v>132152.06267267233</c:v>
                </c:pt>
                <c:pt idx="3">
                  <c:v>279484.05415915884</c:v>
                </c:pt>
                <c:pt idx="4">
                  <c:v>521560.55267267255</c:v>
                </c:pt>
                <c:pt idx="5">
                  <c:v>541571.4963213219</c:v>
                </c:pt>
                <c:pt idx="6">
                  <c:v>695332.3463213216</c:v>
                </c:pt>
                <c:pt idx="7">
                  <c:v>696138.7634834838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Ecotransur</c:v>
                </c:pt>
              </c:strCache>
            </c:strRef>
          </c:tx>
          <c:spPr>
            <a:solidFill>
              <a:srgbClr val="2E7D5B"/>
            </a:solidFill>
            <a:ln w="31750" cap="flat">
              <a:solidFill>
                <a:srgbClr val="2E7D5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7D5B"/>
              </a:solidFill>
              <a:ln w="9525" cap="flat">
                <a:solidFill>
                  <a:srgbClr val="2E7D5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4</c:v>
                  </c:pt>
                  <c:pt idx="1">
                    <c:v>4,5</c:v>
                  </c:pt>
                  <c:pt idx="2">
                    <c:v>5</c:v>
                  </c:pt>
                  <c:pt idx="3">
                    <c:v>5,5</c:v>
                  </c:pt>
                  <c:pt idx="4">
                    <c:v>6</c:v>
                  </c:pt>
                  <c:pt idx="5">
                    <c:v>6,5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5451.871321318671</c:v>
                </c:pt>
                <c:pt idx="1">
                  <c:v>247985.61051050853</c:v>
                </c:pt>
                <c:pt idx="2">
                  <c:v>490519.3496996984</c:v>
                </c:pt>
                <c:pt idx="3">
                  <c:v>405025.86456456315</c:v>
                </c:pt>
                <c:pt idx="4">
                  <c:v>584485.568618618</c:v>
                </c:pt>
                <c:pt idx="5">
                  <c:v>521411.53348348243</c:v>
                </c:pt>
                <c:pt idx="6">
                  <c:v>660216.6524024019</c:v>
                </c:pt>
                <c:pt idx="7">
                  <c:v>633612.8875375371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Petro Star Lump Sum (sin descuento)</c:v>
                </c:pt>
              </c:strCache>
            </c:strRef>
          </c:tx>
          <c:spPr>
            <a:solidFill>
              <a:srgbClr val="7A8A99"/>
            </a:solidFill>
            <a:ln w="31750" cap="flat">
              <a:solidFill>
                <a:srgbClr val="7A8A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A8A99"/>
              </a:solidFill>
              <a:ln w="9525" cap="flat">
                <a:solidFill>
                  <a:srgbClr val="7A8A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4</c:v>
                  </c:pt>
                  <c:pt idx="1">
                    <c:v>4,5</c:v>
                  </c:pt>
                  <c:pt idx="2">
                    <c:v>5</c:v>
                  </c:pt>
                  <c:pt idx="3">
                    <c:v>5,5</c:v>
                  </c:pt>
                  <c:pt idx="4">
                    <c:v>6</c:v>
                  </c:pt>
                  <c:pt idx="5">
                    <c:v>6,5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-740040.8381381389</c:v>
                </c:pt>
                <c:pt idx="1">
                  <c:v>-607528.7605705713</c:v>
                </c:pt>
                <c:pt idx="2">
                  <c:v>-472796.25624624686</c:v>
                </c:pt>
                <c:pt idx="3">
                  <c:v>-404125.2930030036</c:v>
                </c:pt>
                <c:pt idx="4">
                  <c:v>-210864.81138138194</c:v>
                </c:pt>
                <c:pt idx="5">
                  <c:v>-239669.8846246251</c:v>
                </c:pt>
                <c:pt idx="6">
                  <c:v>-153696.0570570575</c:v>
                </c:pt>
                <c:pt idx="7">
                  <c:v>-223453.66840840876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D6B78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D6B78"/>
                    </a:solidFill>
                    <a:latin typeface="Arial"/>
                  </a:rPr>
                  <a:t>Movilizaciones por mes (esperado: 5 a 6)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B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D6B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Frontera calculada con el simulador (hoja Simulador, sección 6, y campaña con frecuencia constante). Los umbrales salen de Cot. 1255 p. 2 y p. 4 y de la carta de Ecotransur p. 2–4.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Simulador filas 51 y 53–67; cargo fijo Cot. 1255 p. 4 y Ecotransur p. 2–3 a TRM 3.700. Ecotransur 6ª+ = solo equipos (p. 3–4).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Gráfico: hoja Sensibilidad, sección 1 (horas del Excel). La curva sube y baja porque el último mes de la campaña puede quedar corto y vuelve a pagar cargo fijo. Tabla: hoja Sensibilidad, sección 3, y hojas Real 2024 / Real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Puntos de quiebre: hoja Sensibilidad, sección 2. Pendientes completos con montos: hoja Pendientes. Auditoría de la evaluación previa: Auditoria_Evaluacion_Previa.xlsx.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Texto completo en Simulador_Movilizacion_GRS110.xlsx, hoja Resumen, secciones 6 y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SierraCol · Movilización del taladro GRS 110 · La Cira Infantas · Evaluación de modelo de contratación (no es adjudicación)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Tercerizar ahorra poco y solo si se sostienen 5–6 movilizaciones y los tiempos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6692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Qué se decide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Mantener el Work Order (modelo directo: suma global por movilización, sin horas de taladro) o pasar al modelo tercerizado: SierraCol contrata aparte al transportador y paga además el taladro por hora durante la movilización y un coordinador de transporte (Truck Manager).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Qué no se decide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No se adjudica proveedor ni se declara un ahorro único. Se evalúan tres ofertas: Petro Star tarifa normal, Petro Star precio cerrado (Lump Sum) y Ecotransur.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Por qué decide la cantidad de movilizaciones de cada mes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 Work Order cuesta lo mismo por movilización haya 1 o 9 en el mes. El tercerizado cobra cargo fijo hasta la 4ª o 5ª movilización del mes y descuenta desde la 6ª: el resultado lo decide cuántas movilizaciones caen en cada mes, no el promedio.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4617720"/>
          <a:ext cx="566928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1"/>
          <p:cNvSpPr/>
          <p:nvPr/>
        </p:nvSpPr>
        <p:spPr>
          <a:xfrm>
            <a:off x="6675120" y="1325880"/>
            <a:ext cx="4937760" cy="1298448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0" y="1435608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0,6–2,8 %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8686800" y="1435608"/>
            <a:ext cx="2788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del costo de la campaña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Ahorro de la campaña de 35 pozos (~21 M USD): 0,13 M–0,58 M, es decir 4–17 k USD por pozo (pozo de 550–650 k)</a:t>
            </a:r>
            <a:endParaRPr lang="en-US" sz="1400" dirty="0"/>
          </a:p>
        </p:txBody>
      </p:sp>
      <p:sp>
        <p:nvSpPr>
          <p:cNvPr id="8" name="card2"/>
          <p:cNvSpPr/>
          <p:nvPr/>
        </p:nvSpPr>
        <p:spPr>
          <a:xfrm>
            <a:off x="6675120" y="2807208"/>
            <a:ext cx="4937760" cy="1298448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0" y="2916936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 h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2916936"/>
            <a:ext cx="2788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 más por movilización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sobre el tiempo cotizado borran el ahorro de Petro Star con 5 movs/mes; con 6, unas 5 h (taladro + equipos)</a:t>
            </a:r>
            <a:endParaRPr lang="en-US" sz="1400" dirty="0"/>
          </a:p>
        </p:txBody>
      </p:sp>
      <p:sp>
        <p:nvSpPr>
          <p:cNvPr id="11" name="card3"/>
          <p:cNvSpPr/>
          <p:nvPr/>
        </p:nvSpPr>
        <p:spPr>
          <a:xfrm>
            <a:off x="6675120" y="4288536"/>
            <a:ext cx="4937760" cy="1298448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0" y="4398264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Pierde siempre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4398264"/>
            <a:ext cx="2788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Petro Star Lump Sum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Pierde con 5 y con 6 movs/mes (−0,47 M y −0,21 M). Con los precios de la cotización 1255 quedaría en −0,03 M y +0,23 M: Compras debe aclararlos.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675120" y="578815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tx2"/>
                </a:solidFill>
              </a:rPr>
              <a:t>Campaña 15 + 20 pozos (0,1–5 km), 5–6 movs/mes, TRM 3.700, Truck Manager mensual y 17,3 h de bloqueo social medido (OpenWells 2025). Con 4 movs/mes Petro Star pierde. Logs: 2024 tuvo 6 o más en 9 de 11 meses; 2025, en 4 de 9.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El tercerizado suma taladro y cargo fijo; a cambio descuenta desde la 6ª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4"/>
          <p:cNvSpPr/>
          <p:nvPr/>
        </p:nvSpPr>
        <p:spPr>
          <a:xfrm>
            <a:off x="7680960" y="1280160"/>
            <a:ext cx="3931920" cy="493776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4173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Cargo fijo mensual si el mes no llega al mínimo (USD)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2011680"/>
          <a:ext cx="3566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Movs en el 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Petro Star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Ecotransur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133.751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181.054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135.791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56.465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45.264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40.953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863840" y="425196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Lo que no se ve en la barra: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el Work Order es igual en cualquier mes; el tercerizado suma este cargo mientras el mes no llegue a 5 (Ecotransur) o a 6 (Petro Star). Lump Sum: sin descuento en la evaluación principal.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Entre 5 y 6 movilizaciones por mes está el escalón que más pesa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5"/>
          <p:cNvSpPr/>
          <p:nvPr/>
        </p:nvSpPr>
        <p:spPr>
          <a:xfrm>
            <a:off x="7680960" y="1280160"/>
            <a:ext cx="3931920" cy="493776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4173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Campañas reales 2024 y 2025 repetidas con horas reales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2011680"/>
          <a:ext cx="3566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10058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= tercerizado más barato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Petro Star tarifa normal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+1,14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−0,07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Ecotransur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+1,00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−0,08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Petro Star Lump Sum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−0,97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−1,45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863840" y="342900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Taladro por horas reales y equipos por cada hora sobre el tiempo cotizado.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2025: 15 movilizaciones se pasaron del tiempo (94 h). Con eso el tercerizado habría costado más que el Work Order.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2024 se movió más rápido que lo supuesto en el Excel y el ahorro se mantiene, aun con 10 excesos (66 h).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El margen se pierde con pocas horas de más o un mes sin mover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3152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097280"/>
                <a:gridCol w="109728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borra el ahorro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Petro Star · 5/mes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Petro Star · 6/mes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Ecotransur · 5/mes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Ecotransur · 6/mes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Ahorro de la campaña (USD)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+0,13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+0,52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+0,49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+0,58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Ahorro por pozo (% de un pozo de 600 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extra de taladro por movilización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 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 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 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 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sobre el tiempo cotizado (taladro + equipos)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 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 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 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 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Días de taladro de demora en toda la campaña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Meses bloqueados con contrato vigente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160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Por qué: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el Work Order una demora, un bloqueo o un mes sin mover no cuesta nada. En el tercerizado cada hora sobre el tiempo cotizado cuesta unos 2.813 USD (taladro 1.456 + equipos y señalizadores 1.357) y un mes bloqueado paga el cargo fijo más el Truck Manager (Petro Star 177 k, Ecotransur 243 k).</a:t>
            </a:r>
            <a:endParaRPr lang="en-US" sz="1200" dirty="0"/>
          </a:p>
        </p:txBody>
      </p:sp>
      <p:sp>
        <p:nvSpPr>
          <p:cNvPr id="5" name="card6"/>
          <p:cNvSpPr/>
          <p:nvPr/>
        </p:nvSpPr>
        <p:spPr>
          <a:xfrm>
            <a:off x="8229600" y="128016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1F2A36"/>
          </a:solidFill>
          <a:ln w="12700">
            <a:solidFill>
              <a:srgbClr val="1F2A3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63040"/>
            <a:ext cx="3017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A tener en cuenta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El Work Order tiene tope: lo comparamos contra su tarifa máxima. El tercerizado no tiene tope; el riesgo de cada hora extra queda en SierraCol.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Horas que se pagarán al taladro: con las cotizadas (24 h en 0,1–5 km) el ahorro baja 0,17 M.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Precios del Lump Sum: el Excel está por encima de la cotización 1255 (+0,44 M). Lo aclara Compras.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Si Petro Star no cobra cargo fijo con 5 movilizaciones, su ahorro sube unos 0,29 M con 5 movs/mes.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Riesgos no valorados: coordinación de dos contratistas, HSE y daños, disponibilidad, pago en COP.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Recomendación: mantener el Work Order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67665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Conclusión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El tercerizado solo ahorra si se sostienen 5 a 6 movilizaciones todos los meses y cada movilización cumple el tiempo cotizado: +0,13 M a +0,52 M con Petro Star tarifa normal y +0,49 M a +0,58 M con Ecotransur, en una campaña de unos 21 M (menos del 3 %).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El margen es delgado: con 5 movs/mes, Petro Star lo pierde con 1,3 h de más por movilización o con un mes bloqueado; Ecotransur con 5,0 h o 2,0 meses bloqueados.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La campaña real 2025 habría costado más con el tercerizado (Petro Star −71 k, Ecotransur −79 k); la de 2024, con 9 de 11 meses en 6 o más, habría ahorrado +1,14 M y +1,00 M.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El Lump Sum de Petro Star pierde en todos los escenarios con los precios del Excel.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El Work Order tiene tarifa tope y absorbe demoras, bloqueos y meses lentos; el tercerizado traslada ese riesgo a SierraCol.</a:t>
            </a:r>
            <a:endParaRPr lang="en-US" sz="1300" dirty="0"/>
          </a:p>
        </p:txBody>
      </p:sp>
      <p:sp>
        <p:nvSpPr>
          <p:cNvPr id="4" name="card7"/>
          <p:cNvSpPr/>
          <p:nvPr/>
        </p:nvSpPr>
        <p:spPr>
          <a:xfrm>
            <a:off x="7680960" y="128016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1F2A36"/>
          </a:solidFill>
          <a:ln w="12700">
            <a:solidFill>
              <a:srgbClr val="1F2A3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0" y="14630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Se reconsidera el tercerizado solo si: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bg1"/>
                </a:solidFill>
              </a:rPr>
              <a:t>Hay un plan de pozos con 6 o más movilizaciones todos los meses.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bg1"/>
                </a:solidFill>
              </a:rPr>
              <a:t>El contrato pone tope de horas o penalidad al transportador por pasarse del tiempo cotizado.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bg1"/>
                </a:solidFill>
              </a:rPr>
              <a:t>Una cláusula suspende el cargo fijo en meses con bloqueos o problemas operativos.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Antes de negociar: Compras aclara los precios del Lump Sum y Petro Star confirma si cobra cargo fijo con 5 movilizaciones.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vilizacion GRS110">
  <a:themeElements>
    <a:clrScheme name="Movilizacion GRS110">
      <a:dk1>
        <a:srgbClr val="1F2A36"/>
      </a:dk1>
      <a:lt1>
        <a:srgbClr val="FFFFFF"/>
      </a:lt1>
      <a:dk2>
        <a:srgbClr val="3B4754"/>
      </a:dk2>
      <a:lt2>
        <a:srgbClr val="EEF1F4"/>
      </a:lt2>
      <a:accent1>
        <a:srgbClr val="C8860A"/>
      </a:accent1>
      <a:accent2>
        <a:srgbClr val="1F2A36"/>
      </a:accent2>
      <a:accent3>
        <a:srgbClr val="7A8A99"/>
      </a:accent3>
      <a:accent4>
        <a:srgbClr val="2E7D5B"/>
      </a:accent4>
      <a:accent5>
        <a:srgbClr val="B03A2E"/>
      </a:accent5>
      <a:accent6>
        <a:srgbClr val="A9B4BF"/>
      </a:accent6>
      <a:hlink>
        <a:srgbClr val="1F6FB2"/>
      </a:hlink>
      <a:folHlink>
        <a:srgbClr val="6B4E9B"/>
      </a:folHlink>
    </a:clrScheme>
    <a:fontScheme name="Movilizacion GRS110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Movilización GRS 110: Work Order vs tercerizado</dc:title>
  <dc:subject>PptxGenJS Presentation</dc:subject>
  <dc:creator>PptxGenJS</dc:creator>
  <cp:lastModifiedBy>PptxGenJS</cp:lastModifiedBy>
  <cp:revision>1</cp:revision>
  <dcterms:created xsi:type="dcterms:W3CDTF">2026-10-12T17:25:25Z</dcterms:created>
  <dcterms:modified xsi:type="dcterms:W3CDTF">2026-10-12T17:25:25Z</dcterms:modified>
</cp:coreProperties>
</file>