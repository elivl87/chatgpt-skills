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7aea24ca-9a34-139b-2464-27a22d34107c}">
          <p14:sldIdLst>
            <p14:sldId id="256"/>
          </p14:sldIdLst>
        </p14:section>
        <p14:section name="Estructura de costo" id="{b5b51beb-5bef-0f5b-0c30-4dc442754189}">
          <p14:sldIdLst>
            <p14:sldId id="257"/>
          </p14:sldIdLst>
        </p14:section>
        <p14:section name="Frontera" id="{9913c817-55eb-3934-c629-a71cb138af4d}">
          <p14:sldIdLst>
            <p14:sldId id="258"/>
          </p14:sldIdLst>
        </p14:section>
        <p14:section name="Pendientes" id="{68c27ff3-cdff-5b86-a6e7-864052c7b51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-135076.89054054068</c:v>
                </c:pt>
                <c:pt idx="1">
                  <c:v>-2564.812972973101</c:v>
                </c:pt>
                <c:pt idx="2">
                  <c:v>132167.69135135133</c:v>
                </c:pt>
                <c:pt idx="3">
                  <c:v>279499.68283783784</c:v>
                </c:pt>
                <c:pt idx="4">
                  <c:v>521576.18135135155</c:v>
                </c:pt>
                <c:pt idx="5">
                  <c:v>541587.1250000009</c:v>
                </c:pt>
                <c:pt idx="6">
                  <c:v>695347.9750000006</c:v>
                </c:pt>
                <c:pt idx="7">
                  <c:v>696154.3921621628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5467.499999997672</c:v>
                </c:pt>
                <c:pt idx="1">
                  <c:v>248001.23918918753</c:v>
                </c:pt>
                <c:pt idx="2">
                  <c:v>490534.9783783774</c:v>
                </c:pt>
                <c:pt idx="3">
                  <c:v>405041.49324324215</c:v>
                </c:pt>
                <c:pt idx="4">
                  <c:v>584501.197297297</c:v>
                </c:pt>
                <c:pt idx="5">
                  <c:v>521427.16216216143</c:v>
                </c:pt>
                <c:pt idx="6">
                  <c:v>660232.2810810809</c:v>
                </c:pt>
                <c:pt idx="7">
                  <c:v>633628.5162162161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-740025.2094594599</c:v>
                </c:pt>
                <c:pt idx="1">
                  <c:v>-607513.1318918923</c:v>
                </c:pt>
                <c:pt idx="2">
                  <c:v>-472780.62756756786</c:v>
                </c:pt>
                <c:pt idx="3">
                  <c:v>-404109.6643243246</c:v>
                </c:pt>
                <c:pt idx="4">
                  <c:v>-210849.18270270294</c:v>
                </c:pt>
                <c:pt idx="5">
                  <c:v>-239654.2559459461</c:v>
                </c:pt>
                <c:pt idx="6">
                  <c:v>-153680.4283783785</c:v>
                </c:pt>
                <c:pt idx="7">
                  <c:v>-223438.03972972976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Los dientes vienen del último mes de la campaña, que queda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0,6–2,8 %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la campaña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la campaña de 35 pozos (~21 M USD): 0,13–0,58 M, es decir 4–17 k USD por pozo (pozo de 550–650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5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los precios del Excel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descuento. Con los precios de la cotización 1255 sí cruzaría: pendiente de Compras (SCM)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5–6 movs/mes, TRM 3.700, Truck Manager mensual y 17,3 h de bloqueo social medido (OpenWells 2025). Con 4 movs/mes Petro Star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Ilustración, no resultado: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+1,14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+0,49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600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demora, un bloqueo o un mes sin mover no cuesta nada. En el tercerizado cada hora sobre el tiempo cotizado cuesta unos 2.813 USD (taladro 1.456 + equipos y señalizadores 1.357) y un mes bloqueado paga el cargo fijo completo (Petro Star 161 k, Ecotransur 226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tener en cuenta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El Work Order tiene tope: lo comparamos contra su tarifa máxima. El tercerizado no tiene tope; el riesgo de cada hora extra queda en SierraCol.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2026-10-12T17:15:12Z</dcterms:created>
  <dcterms:modified xsi:type="dcterms:W3CDTF">2026-10-12T17:15:12Z</dcterms:modified>
</cp:coreProperties>
</file>